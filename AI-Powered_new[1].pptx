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6"/>
  </p:notesMasterIdLst>
  <p:handoutMasterIdLst>
    <p:handoutMasterId r:id="rId17"/>
  </p:handoutMasterIdLst>
  <p:sldIdLst>
    <p:sldId id="312" r:id="rId5"/>
    <p:sldId id="307" r:id="rId6"/>
    <p:sldId id="281" r:id="rId7"/>
    <p:sldId id="322" r:id="rId8"/>
    <p:sldId id="324" r:id="rId9"/>
    <p:sldId id="323" r:id="rId10"/>
    <p:sldId id="314" r:id="rId11"/>
    <p:sldId id="317" r:id="rId12"/>
    <p:sldId id="318" r:id="rId13"/>
    <p:sldId id="321" r:id="rId14"/>
    <p:sldId id="297" r:id="rId15"/>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5388" autoAdjust="0"/>
  </p:normalViewPr>
  <p:slideViewPr>
    <p:cSldViewPr snapToGrid="0" snapToObjects="1">
      <p:cViewPr varScale="1">
        <p:scale>
          <a:sx n="91" d="100"/>
          <a:sy n="91" d="100"/>
        </p:scale>
        <p:origin x="370" y="53"/>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1418AE-1104-47BB-8C51-B32736BBDA1A}" type="doc">
      <dgm:prSet loTypeId="urn:microsoft.com/office/officeart/2005/8/layout/process1" loCatId="process" qsTypeId="urn:microsoft.com/office/officeart/2005/8/quickstyle/3d4" qsCatId="3D" csTypeId="urn:microsoft.com/office/officeart/2005/8/colors/accent6_4" csCatId="accent6" phldr="1"/>
      <dgm:spPr/>
    </dgm:pt>
    <dgm:pt modelId="{B0864292-66D6-4498-8867-9E02D4377527}" type="pres">
      <dgm:prSet presAssocID="{BC1418AE-1104-47BB-8C51-B32736BBDA1A}" presName="Name0" presStyleCnt="0">
        <dgm:presLayoutVars>
          <dgm:dir/>
          <dgm:resizeHandles val="exact"/>
        </dgm:presLayoutVars>
      </dgm:prSet>
      <dgm:spPr/>
    </dgm:pt>
  </dgm:ptLst>
  <dgm:cxnLst>
    <dgm:cxn modelId="{B43AE1BB-AAF0-4285-B9BB-E0E24F170251}" type="presOf" srcId="{BC1418AE-1104-47BB-8C51-B32736BBDA1A}" destId="{B0864292-66D6-4498-8867-9E02D4377527}" srcOrd="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hyperlink" Target="https://doi.org/10.3390%2Ffi15080260" TargetMode="External"/><Relationship Id="rId7" Type="http://schemas.openxmlformats.org/officeDocument/2006/relationships/hyperlink" Target="https://scholar.google.com/scholar_lookup?&amp;title=Who%20is%20better%20in%20project%20planning%3F%20Generative%20artificial%20intelligence%20or%20project%20managers%3F&amp;journal=Project%20Leadership%20and%20Society&amp;doi=10.1016%2Fj.plas.2023.100101&amp;volume=4&amp;publication_year=2023&amp;author=Barcaui%2CA&amp;author=Monat%2CA" TargetMode="External"/><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hyperlink" Target="https://doi.org/10.1016%2Fj.plas.2023.100101" TargetMode="External"/><Relationship Id="rId5" Type="http://schemas.openxmlformats.org/officeDocument/2006/relationships/hyperlink" Target="https://doi.org/10.1016/j.plas.2023.100101" TargetMode="External"/><Relationship Id="rId4" Type="http://schemas.openxmlformats.org/officeDocument/2006/relationships/hyperlink" Target="https://scholar.google.com/scholar_lookup?&amp;title=The%20power%20of%20generative%20AI%3A%20A%20review%20of%20requirements%2C%20models%2C%20input%E2%80%93output%20formats%2C%20evaluation%20metrics%2C%20and%20challenges&amp;journal=Future%20Internet&amp;volume=15&amp;issue=8&amp;publication_year=2023&amp;author=Bandi%2CA&amp;author=Adapa%2CPVSR&amp;author=Kumar%2CVP&amp;author=Kuchi%2CYE"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345817" y="713065"/>
            <a:ext cx="7340366" cy="5667858"/>
          </a:xfrm>
        </p:spPr>
        <p:txBody>
          <a:bodyPr anchor="ctr"/>
          <a:lstStyle/>
          <a:p>
            <a:r>
              <a:rPr lang="en-US" sz="4000" u="sng" dirty="0">
                <a:latin typeface="Algerian" panose="04020705040A02060702" pitchFamily="82" charset="0"/>
              </a:rPr>
              <a:t>AI-Powered</a:t>
            </a:r>
            <a:br>
              <a:rPr lang="en-US" sz="4000" u="sng" dirty="0">
                <a:latin typeface="Algerian" panose="04020705040A02060702" pitchFamily="82" charset="0"/>
              </a:rPr>
            </a:br>
            <a:r>
              <a:rPr lang="en-US" sz="4000" u="sng" dirty="0">
                <a:latin typeface="Algerian" panose="04020705040A02060702" pitchFamily="82" charset="0"/>
              </a:rPr>
              <a:t> Ideas Generator</a:t>
            </a:r>
            <a:br>
              <a:rPr lang="en-US" b="0" dirty="0"/>
            </a:br>
            <a:r>
              <a:rPr lang="en-US" b="0" dirty="0"/>
              <a:t>       </a:t>
            </a:r>
            <a:r>
              <a:rPr lang="en-US" sz="1000" dirty="0"/>
              <a:t>    </a:t>
            </a:r>
            <a:br>
              <a:rPr lang="en-US" b="0" dirty="0"/>
            </a:br>
            <a:br>
              <a:rPr lang="en-US" sz="2000" b="0" dirty="0">
                <a:solidFill>
                  <a:schemeClr val="bg2">
                    <a:lumMod val="50000"/>
                  </a:schemeClr>
                </a:solidFill>
              </a:rPr>
            </a:br>
            <a:br>
              <a:rPr lang="en-US" sz="2000" b="0" dirty="0">
                <a:solidFill>
                  <a:schemeClr val="bg2">
                    <a:lumMod val="50000"/>
                  </a:schemeClr>
                </a:solidFill>
              </a:rPr>
            </a:br>
            <a:br>
              <a:rPr lang="en-US" b="0" dirty="0"/>
            </a:br>
            <a:br>
              <a:rPr lang="en-US" b="0" dirty="0"/>
            </a:br>
            <a:br>
              <a:rPr lang="en-US" b="0" dirty="0"/>
            </a:br>
            <a:r>
              <a:rPr lang="en-US" b="0" dirty="0"/>
              <a:t>         </a:t>
            </a:r>
            <a:br>
              <a:rPr lang="en-US" b="0" dirty="0"/>
            </a:br>
            <a:r>
              <a:rPr lang="en-US" b="0" dirty="0"/>
              <a:t> </a:t>
            </a:r>
            <a:br>
              <a:rPr lang="en-US" b="0" dirty="0"/>
            </a:br>
            <a:r>
              <a:rPr lang="en-US" b="0" dirty="0"/>
              <a:t>                       </a:t>
            </a:r>
            <a:endParaRPr lang="en-US" dirty="0"/>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0" y="2836425"/>
            <a:ext cx="10041173" cy="2802835"/>
          </a:xfrm>
        </p:spPr>
        <p:txBody>
          <a:bodyPr/>
          <a:lstStyle/>
          <a:p>
            <a:br>
              <a:rPr lang="en-IN" sz="1050" b="0" dirty="0"/>
            </a:br>
            <a:br>
              <a:rPr lang="en-IN" sz="1050" b="0" dirty="0"/>
            </a:br>
            <a:br>
              <a:rPr lang="en-IN" sz="2400" b="0" dirty="0"/>
            </a:br>
            <a:br>
              <a:rPr lang="en-US" b="0" dirty="0"/>
            </a:br>
            <a:br>
              <a:rPr lang="en-US" b="0" dirty="0"/>
            </a:br>
            <a:br>
              <a:rPr lang="en-US" b="0" dirty="0"/>
            </a:br>
            <a:br>
              <a:rPr lang="en-US" b="0" dirty="0"/>
            </a:br>
            <a:br>
              <a:rPr lang="en-IN" b="0" dirty="0"/>
            </a:br>
            <a:br>
              <a:rPr lang="en-IN" b="0" dirty="0"/>
            </a:br>
            <a:br>
              <a:rPr lang="en-IN" b="0" dirty="0"/>
            </a:br>
            <a:endParaRPr lang="en-US" dirty="0"/>
          </a:p>
        </p:txBody>
      </p:sp>
      <p:sp>
        <p:nvSpPr>
          <p:cNvPr id="7" name="TextBox 6">
            <a:extLst>
              <a:ext uri="{FF2B5EF4-FFF2-40B4-BE49-F238E27FC236}">
                <a16:creationId xmlns:a16="http://schemas.microsoft.com/office/drawing/2014/main" id="{B61CB9E6-E22F-3428-346E-59DBE33D7B95}"/>
              </a:ext>
            </a:extLst>
          </p:cNvPr>
          <p:cNvSpPr txBox="1"/>
          <p:nvPr/>
        </p:nvSpPr>
        <p:spPr>
          <a:xfrm>
            <a:off x="0" y="-42000"/>
            <a:ext cx="2575420" cy="738664"/>
          </a:xfrm>
          <a:prstGeom prst="rect">
            <a:avLst/>
          </a:prstGeom>
          <a:noFill/>
        </p:spPr>
        <p:txBody>
          <a:bodyPr wrap="square" rtlCol="0">
            <a:spAutoFit/>
          </a:bodyPr>
          <a:lstStyle/>
          <a:p>
            <a:r>
              <a:rPr lang="en-IN" sz="2400" b="1" dirty="0"/>
              <a:t>1. </a:t>
            </a:r>
            <a:r>
              <a:rPr lang="en-IN" sz="2400" b="1" u="sng" dirty="0"/>
              <a:t>Introduction</a:t>
            </a:r>
            <a:endParaRPr lang="en-IN" sz="2400" u="sng" dirty="0"/>
          </a:p>
          <a:p>
            <a:endParaRPr lang="en-IN" dirty="0"/>
          </a:p>
        </p:txBody>
      </p:sp>
      <p:sp>
        <p:nvSpPr>
          <p:cNvPr id="9" name="TextBox 8">
            <a:extLst>
              <a:ext uri="{FF2B5EF4-FFF2-40B4-BE49-F238E27FC236}">
                <a16:creationId xmlns:a16="http://schemas.microsoft.com/office/drawing/2014/main" id="{2EFCBE99-15E9-6914-5CE5-D43D192B9CE3}"/>
              </a:ext>
            </a:extLst>
          </p:cNvPr>
          <p:cNvSpPr txBox="1"/>
          <p:nvPr/>
        </p:nvSpPr>
        <p:spPr>
          <a:xfrm>
            <a:off x="0" y="381888"/>
            <a:ext cx="1792478" cy="646331"/>
          </a:xfrm>
          <a:prstGeom prst="rect">
            <a:avLst/>
          </a:prstGeom>
          <a:noFill/>
        </p:spPr>
        <p:txBody>
          <a:bodyPr wrap="none" rtlCol="0">
            <a:spAutoFit/>
          </a:bodyPr>
          <a:lstStyle/>
          <a:p>
            <a:r>
              <a:rPr lang="en-IN" b="1" dirty="0"/>
              <a:t>1.1 Background</a:t>
            </a:r>
            <a:endParaRPr lang="en-IN" dirty="0"/>
          </a:p>
          <a:p>
            <a:endParaRPr lang="en-IN" dirty="0"/>
          </a:p>
        </p:txBody>
      </p:sp>
      <p:sp>
        <p:nvSpPr>
          <p:cNvPr id="12" name="TextBox 11">
            <a:extLst>
              <a:ext uri="{FF2B5EF4-FFF2-40B4-BE49-F238E27FC236}">
                <a16:creationId xmlns:a16="http://schemas.microsoft.com/office/drawing/2014/main" id="{EDCF1E3E-3E38-DFA0-83E7-3776496FD39B}"/>
              </a:ext>
            </a:extLst>
          </p:cNvPr>
          <p:cNvSpPr txBox="1"/>
          <p:nvPr/>
        </p:nvSpPr>
        <p:spPr>
          <a:xfrm>
            <a:off x="-25246" y="730219"/>
            <a:ext cx="9924255" cy="1477328"/>
          </a:xfrm>
          <a:prstGeom prst="rect">
            <a:avLst/>
          </a:prstGeom>
          <a:noFill/>
        </p:spPr>
        <p:txBody>
          <a:bodyPr wrap="square" rtlCol="0">
            <a:spAutoFit/>
          </a:bodyPr>
          <a:lstStyle/>
          <a:p>
            <a:r>
              <a:rPr lang="en-US" dirty="0"/>
              <a:t>Entrepreneurial ideation represents a fundamental challenge in startup development, with studies indicating that 42% of startups fail due to lack of market need (CB Insights, 2021). The process of generating viable business ideas traditionally requires extensive market research, industry knowledge, and creative thinking capabilities that many aspiring entrepreneurs lack.</a:t>
            </a:r>
          </a:p>
          <a:p>
            <a:endParaRPr lang="en-IN" dirty="0"/>
          </a:p>
        </p:txBody>
      </p:sp>
      <p:sp>
        <p:nvSpPr>
          <p:cNvPr id="13" name="TextBox 12">
            <a:extLst>
              <a:ext uri="{FF2B5EF4-FFF2-40B4-BE49-F238E27FC236}">
                <a16:creationId xmlns:a16="http://schemas.microsoft.com/office/drawing/2014/main" id="{E65AA084-A33C-224E-18E9-DEDB04126448}"/>
              </a:ext>
            </a:extLst>
          </p:cNvPr>
          <p:cNvSpPr txBox="1"/>
          <p:nvPr/>
        </p:nvSpPr>
        <p:spPr>
          <a:xfrm>
            <a:off x="0" y="1934228"/>
            <a:ext cx="3313651" cy="1200329"/>
          </a:xfrm>
          <a:prstGeom prst="rect">
            <a:avLst/>
          </a:prstGeom>
          <a:noFill/>
        </p:spPr>
        <p:txBody>
          <a:bodyPr wrap="square" rtlCol="0">
            <a:spAutoFit/>
          </a:bodyPr>
          <a:lstStyle/>
          <a:p>
            <a:r>
              <a:rPr lang="en-IN" b="1" dirty="0"/>
              <a:t>1.2 Problem Statement</a:t>
            </a:r>
            <a:endParaRPr lang="en-IN" dirty="0"/>
          </a:p>
          <a:p>
            <a:br>
              <a:rPr lang="en-IN" dirty="0"/>
            </a:br>
            <a:endParaRPr lang="en-IN" dirty="0"/>
          </a:p>
          <a:p>
            <a:endParaRPr lang="en-IN" dirty="0"/>
          </a:p>
        </p:txBody>
      </p:sp>
      <p:sp>
        <p:nvSpPr>
          <p:cNvPr id="14" name="TextBox 13">
            <a:extLst>
              <a:ext uri="{FF2B5EF4-FFF2-40B4-BE49-F238E27FC236}">
                <a16:creationId xmlns:a16="http://schemas.microsoft.com/office/drawing/2014/main" id="{F5C62C7B-3A4E-F29A-C5F4-0564F5B01777}"/>
              </a:ext>
            </a:extLst>
          </p:cNvPr>
          <p:cNvSpPr txBox="1"/>
          <p:nvPr/>
        </p:nvSpPr>
        <p:spPr>
          <a:xfrm flipH="1">
            <a:off x="230278" y="2247394"/>
            <a:ext cx="7311425" cy="646331"/>
          </a:xfrm>
          <a:prstGeom prst="rect">
            <a:avLst/>
          </a:prstGeom>
          <a:noFill/>
        </p:spPr>
        <p:txBody>
          <a:bodyPr wrap="square" rtlCol="0">
            <a:spAutoFit/>
          </a:bodyPr>
          <a:lstStyle/>
          <a:p>
            <a:r>
              <a:rPr lang="en-IN" dirty="0"/>
              <a:t>Current entrepreneurial support systems suffer from several limitations:</a:t>
            </a:r>
          </a:p>
          <a:p>
            <a:endParaRPr lang="en-IN" dirty="0"/>
          </a:p>
        </p:txBody>
      </p:sp>
      <p:sp>
        <p:nvSpPr>
          <p:cNvPr id="17" name="TextBox 16">
            <a:extLst>
              <a:ext uri="{FF2B5EF4-FFF2-40B4-BE49-F238E27FC236}">
                <a16:creationId xmlns:a16="http://schemas.microsoft.com/office/drawing/2014/main" id="{AEEEBD5D-21B9-9411-3482-E22B1319CA8C}"/>
              </a:ext>
            </a:extLst>
          </p:cNvPr>
          <p:cNvSpPr txBox="1"/>
          <p:nvPr/>
        </p:nvSpPr>
        <p:spPr>
          <a:xfrm>
            <a:off x="334187" y="4927452"/>
            <a:ext cx="2645276" cy="1200329"/>
          </a:xfrm>
          <a:prstGeom prst="rect">
            <a:avLst/>
          </a:prstGeom>
          <a:noFill/>
        </p:spPr>
        <p:txBody>
          <a:bodyPr wrap="none" rtlCol="0">
            <a:spAutoFit/>
          </a:bodyPr>
          <a:lstStyle/>
          <a:p>
            <a:r>
              <a:rPr lang="en-IN" b="1" dirty="0"/>
              <a:t> 1.3 Research Objectives</a:t>
            </a:r>
            <a:endParaRPr lang="en-IN" dirty="0"/>
          </a:p>
          <a:p>
            <a:br>
              <a:rPr lang="en-IN" dirty="0"/>
            </a:br>
            <a:endParaRPr lang="en-IN" dirty="0"/>
          </a:p>
          <a:p>
            <a:endParaRPr lang="en-IN" dirty="0"/>
          </a:p>
        </p:txBody>
      </p:sp>
      <p:sp>
        <p:nvSpPr>
          <p:cNvPr id="18" name="TextBox 17">
            <a:extLst>
              <a:ext uri="{FF2B5EF4-FFF2-40B4-BE49-F238E27FC236}">
                <a16:creationId xmlns:a16="http://schemas.microsoft.com/office/drawing/2014/main" id="{BD950003-6630-7C4C-85F2-BC7BEFDE3248}"/>
              </a:ext>
            </a:extLst>
          </p:cNvPr>
          <p:cNvSpPr txBox="1"/>
          <p:nvPr/>
        </p:nvSpPr>
        <p:spPr>
          <a:xfrm>
            <a:off x="671825" y="5232817"/>
            <a:ext cx="2278188" cy="646331"/>
          </a:xfrm>
          <a:prstGeom prst="rect">
            <a:avLst/>
          </a:prstGeom>
          <a:noFill/>
        </p:spPr>
        <p:txBody>
          <a:bodyPr wrap="none" rtlCol="0">
            <a:spAutoFit/>
          </a:bodyPr>
          <a:lstStyle/>
          <a:p>
            <a:r>
              <a:rPr lang="en-IN" dirty="0"/>
              <a:t>This research aims to:</a:t>
            </a:r>
          </a:p>
          <a:p>
            <a:endParaRPr lang="en-IN" dirty="0"/>
          </a:p>
        </p:txBody>
      </p:sp>
      <p:graphicFrame>
        <p:nvGraphicFramePr>
          <p:cNvPr id="20" name="Diagram 19">
            <a:extLst>
              <a:ext uri="{FF2B5EF4-FFF2-40B4-BE49-F238E27FC236}">
                <a16:creationId xmlns:a16="http://schemas.microsoft.com/office/drawing/2014/main" id="{664B0C9B-4403-2A60-2057-ADAD34BD22EC}"/>
              </a:ext>
            </a:extLst>
          </p:cNvPr>
          <p:cNvGraphicFramePr/>
          <p:nvPr>
            <p:extLst>
              <p:ext uri="{D42A27DB-BD31-4B8C-83A1-F6EECF244321}">
                <p14:modId xmlns:p14="http://schemas.microsoft.com/office/powerpoint/2010/main" val="1929747441"/>
              </p:ext>
            </p:extLst>
          </p:nvPr>
        </p:nvGraphicFramePr>
        <p:xfrm>
          <a:off x="8548382" y="5734367"/>
          <a:ext cx="2701255" cy="3922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B356165E-D5FD-8F06-7A2E-B5591F6677D2}"/>
              </a:ext>
            </a:extLst>
          </p:cNvPr>
          <p:cNvSpPr txBox="1"/>
          <p:nvPr/>
        </p:nvSpPr>
        <p:spPr>
          <a:xfrm>
            <a:off x="494950" y="2632378"/>
            <a:ext cx="5865009" cy="2308324"/>
          </a:xfrm>
          <a:prstGeom prst="rect">
            <a:avLst/>
          </a:prstGeom>
          <a:noFill/>
        </p:spPr>
        <p:txBody>
          <a:bodyPr wrap="square" rtlCol="0">
            <a:spAutoFit/>
          </a:bodyPr>
          <a:lstStyle/>
          <a:p>
            <a:pPr lvl="0"/>
            <a:r>
              <a:rPr lang="en-US" dirty="0"/>
              <a:t>Limited cross-industry knowledge</a:t>
            </a:r>
          </a:p>
          <a:p>
            <a:pPr lvl="0"/>
            <a:endParaRPr lang="en-IN" dirty="0"/>
          </a:p>
          <a:p>
            <a:pPr lvl="0"/>
            <a:r>
              <a:rPr lang="en-IN" dirty="0"/>
              <a:t> </a:t>
            </a:r>
            <a:r>
              <a:rPr lang="en-US" dirty="0"/>
              <a:t>Difficulty in technology-market matching</a:t>
            </a:r>
          </a:p>
          <a:p>
            <a:pPr lvl="0"/>
            <a:endParaRPr lang="en-IN" dirty="0"/>
          </a:p>
          <a:p>
            <a:pPr lvl="0"/>
            <a:r>
              <a:rPr lang="en-US" dirty="0"/>
              <a:t> Lack of structured business concept development</a:t>
            </a:r>
          </a:p>
          <a:p>
            <a:pPr lvl="0"/>
            <a:endParaRPr lang="en-IN" dirty="0"/>
          </a:p>
          <a:p>
            <a:pPr lvl="0"/>
            <a:r>
              <a:rPr lang="en-US" dirty="0"/>
              <a:t> Insufficient market opportunity analysis</a:t>
            </a:r>
            <a:endParaRPr lang="en-IN" dirty="0"/>
          </a:p>
          <a:p>
            <a:endParaRPr lang="en-IN" dirty="0"/>
          </a:p>
        </p:txBody>
      </p:sp>
      <p:sp>
        <p:nvSpPr>
          <p:cNvPr id="5" name="TextBox 4">
            <a:extLst>
              <a:ext uri="{FF2B5EF4-FFF2-40B4-BE49-F238E27FC236}">
                <a16:creationId xmlns:a16="http://schemas.microsoft.com/office/drawing/2014/main" id="{7653BE43-B47F-3B0F-C1E1-CBD642DFF0A5}"/>
              </a:ext>
            </a:extLst>
          </p:cNvPr>
          <p:cNvSpPr txBox="1"/>
          <p:nvPr/>
        </p:nvSpPr>
        <p:spPr>
          <a:xfrm>
            <a:off x="2868167" y="5191845"/>
            <a:ext cx="7284302" cy="1477328"/>
          </a:xfrm>
          <a:prstGeom prst="rect">
            <a:avLst/>
          </a:prstGeom>
          <a:noFill/>
        </p:spPr>
        <p:txBody>
          <a:bodyPr wrap="none" rtlCol="0">
            <a:spAutoFit/>
          </a:bodyPr>
          <a:lstStyle/>
          <a:p>
            <a:pPr lvl="0"/>
            <a:r>
              <a:rPr lang="en-US" dirty="0"/>
              <a:t>1. Develop a computational system for automated startup idea generation</a:t>
            </a:r>
            <a:endParaRPr lang="en-IN" dirty="0"/>
          </a:p>
          <a:p>
            <a:pPr lvl="0"/>
            <a:r>
              <a:rPr lang="en-US" dirty="0"/>
              <a:t>2. Create a user-friendly interface for entrepreneurial ideation</a:t>
            </a:r>
            <a:endParaRPr lang="en-IN" dirty="0"/>
          </a:p>
          <a:p>
            <a:pPr lvl="0"/>
            <a:r>
              <a:rPr lang="en-US" dirty="0"/>
              <a:t>3. Implement template-based algorithms for business concept creation</a:t>
            </a:r>
            <a:endParaRPr lang="en-IN" dirty="0"/>
          </a:p>
          <a:p>
            <a:pPr lvl="0"/>
            <a:r>
              <a:rPr lang="en-US" dirty="0"/>
              <a:t>4. Evaluate the effectiveness of structured idea generation approaches</a:t>
            </a:r>
            <a:endParaRPr lang="en-IN" dirty="0"/>
          </a:p>
          <a:p>
            <a:endParaRPr lang="en-IN" dirty="0"/>
          </a:p>
        </p:txBody>
      </p:sp>
    </p:spTree>
    <p:extLst>
      <p:ext uri="{BB962C8B-B14F-4D97-AF65-F5344CB8AC3E}">
        <p14:creationId xmlns:p14="http://schemas.microsoft.com/office/powerpoint/2010/main" val="2906491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97064B-9C2E-052B-F231-C76C9319F5D6}"/>
              </a:ext>
            </a:extLst>
          </p:cNvPr>
          <p:cNvSpPr txBox="1"/>
          <p:nvPr/>
        </p:nvSpPr>
        <p:spPr>
          <a:xfrm>
            <a:off x="404447" y="404446"/>
            <a:ext cx="3011722" cy="738664"/>
          </a:xfrm>
          <a:prstGeom prst="rect">
            <a:avLst/>
          </a:prstGeom>
          <a:noFill/>
        </p:spPr>
        <p:txBody>
          <a:bodyPr wrap="none" rtlCol="0">
            <a:spAutoFit/>
          </a:bodyPr>
          <a:lstStyle/>
          <a:p>
            <a:r>
              <a:rPr lang="en-IN" b="1" dirty="0"/>
              <a:t> </a:t>
            </a:r>
            <a:r>
              <a:rPr lang="en-IN" sz="2400" b="1" dirty="0"/>
              <a:t>2. </a:t>
            </a:r>
            <a:r>
              <a:rPr lang="en-IN" sz="2400" b="1" u="sng" dirty="0"/>
              <a:t>Literature Review</a:t>
            </a:r>
            <a:endParaRPr lang="en-IN" sz="2400" u="sng" dirty="0"/>
          </a:p>
          <a:p>
            <a:endParaRPr lang="en-IN" dirty="0"/>
          </a:p>
        </p:txBody>
      </p:sp>
      <p:sp>
        <p:nvSpPr>
          <p:cNvPr id="7" name="TextBox 6">
            <a:extLst>
              <a:ext uri="{FF2B5EF4-FFF2-40B4-BE49-F238E27FC236}">
                <a16:creationId xmlns:a16="http://schemas.microsoft.com/office/drawing/2014/main" id="{9BF9F63B-5D4F-E0D4-68C0-9C6E00730314}"/>
              </a:ext>
            </a:extLst>
          </p:cNvPr>
          <p:cNvSpPr txBox="1"/>
          <p:nvPr/>
        </p:nvSpPr>
        <p:spPr>
          <a:xfrm>
            <a:off x="457200" y="845582"/>
            <a:ext cx="11277599" cy="2308324"/>
          </a:xfrm>
          <a:prstGeom prst="rect">
            <a:avLst/>
          </a:prstGeom>
          <a:noFill/>
        </p:spPr>
        <p:txBody>
          <a:bodyPr wrap="square" rtlCol="0">
            <a:spAutoFit/>
          </a:bodyPr>
          <a:lstStyle/>
          <a:p>
            <a:r>
              <a:rPr lang="en-US" b="1" dirty="0"/>
              <a:t>2.1 Entrepreneurial Ideation</a:t>
            </a:r>
            <a:endParaRPr lang="en-US" dirty="0"/>
          </a:p>
          <a:p>
            <a:r>
              <a:rPr lang="en-US" dirty="0"/>
              <a:t>Shane and Venkataraman (2000) define entrepreneurship as the identification, evaluation, and exploitation of opportunities. The ideation phase is crucial, as it determines the foundation upon which entire ventures are built. Research by </a:t>
            </a:r>
            <a:r>
              <a:rPr lang="en-US" dirty="0" err="1"/>
              <a:t>Ardichvili</a:t>
            </a:r>
            <a:r>
              <a:rPr lang="en-US" dirty="0"/>
              <a:t> et al. (2003) emphasizes that opportunity recognition is a complex process involving pattern recognition, creativity, and market knowledge.</a:t>
            </a:r>
          </a:p>
          <a:p>
            <a:br>
              <a:rPr lang="en-US" dirty="0"/>
            </a:br>
            <a:endParaRPr lang="en-US" dirty="0"/>
          </a:p>
          <a:p>
            <a:endParaRPr lang="en-IN" dirty="0"/>
          </a:p>
        </p:txBody>
      </p:sp>
      <p:sp>
        <p:nvSpPr>
          <p:cNvPr id="10" name="TextBox 9">
            <a:extLst>
              <a:ext uri="{FF2B5EF4-FFF2-40B4-BE49-F238E27FC236}">
                <a16:creationId xmlns:a16="http://schemas.microsoft.com/office/drawing/2014/main" id="{A0C06BE9-E887-0967-1057-6D492CAF6083}"/>
              </a:ext>
            </a:extLst>
          </p:cNvPr>
          <p:cNvSpPr txBox="1"/>
          <p:nvPr/>
        </p:nvSpPr>
        <p:spPr>
          <a:xfrm>
            <a:off x="457200" y="2428061"/>
            <a:ext cx="10406244" cy="2031325"/>
          </a:xfrm>
          <a:prstGeom prst="rect">
            <a:avLst/>
          </a:prstGeom>
          <a:noFill/>
        </p:spPr>
        <p:txBody>
          <a:bodyPr wrap="square" rtlCol="0">
            <a:spAutoFit/>
          </a:bodyPr>
          <a:lstStyle/>
          <a:p>
            <a:r>
              <a:rPr lang="en-US" b="1" dirty="0"/>
              <a:t>2.2 Computational Creativity</a:t>
            </a:r>
            <a:endParaRPr lang="en-US" dirty="0"/>
          </a:p>
          <a:p>
            <a:r>
              <a:rPr lang="en-US" dirty="0"/>
              <a:t>Boden (2004) distinguishes between psychological creativity (novel to the individual) and historical creativity (novel to history). Our system focuses on psychological creativity, helping individuals generate ideas that are novel to them, even if similar concepts exist in the market.</a:t>
            </a:r>
          </a:p>
          <a:p>
            <a:br>
              <a:rPr lang="en-US" dirty="0"/>
            </a:br>
            <a:endParaRPr lang="en-US" dirty="0"/>
          </a:p>
          <a:p>
            <a:endParaRPr lang="en-IN" dirty="0"/>
          </a:p>
        </p:txBody>
      </p:sp>
      <p:sp>
        <p:nvSpPr>
          <p:cNvPr id="11" name="TextBox 10">
            <a:extLst>
              <a:ext uri="{FF2B5EF4-FFF2-40B4-BE49-F238E27FC236}">
                <a16:creationId xmlns:a16="http://schemas.microsoft.com/office/drawing/2014/main" id="{EDC182F9-F90E-662C-9523-3059C51D5AFF}"/>
              </a:ext>
            </a:extLst>
          </p:cNvPr>
          <p:cNvSpPr txBox="1"/>
          <p:nvPr/>
        </p:nvSpPr>
        <p:spPr>
          <a:xfrm>
            <a:off x="457199" y="3733540"/>
            <a:ext cx="11277599" cy="1754326"/>
          </a:xfrm>
          <a:prstGeom prst="rect">
            <a:avLst/>
          </a:prstGeom>
          <a:noFill/>
        </p:spPr>
        <p:txBody>
          <a:bodyPr wrap="square" rtlCol="0">
            <a:spAutoFit/>
          </a:bodyPr>
          <a:lstStyle/>
          <a:p>
            <a:r>
              <a:rPr lang="en-US" b="1" dirty="0"/>
              <a:t>2.3 Template-Based Generation Systems</a:t>
            </a:r>
            <a:endParaRPr lang="en-US" dirty="0"/>
          </a:p>
          <a:p>
            <a:r>
              <a:rPr lang="en-US" dirty="0"/>
              <a:t>Template-based approaches have proven effective in various creative domains. </a:t>
            </a:r>
            <a:r>
              <a:rPr lang="en-US" dirty="0" err="1"/>
              <a:t>Gervás</a:t>
            </a:r>
            <a:r>
              <a:rPr lang="en-US" dirty="0"/>
              <a:t> (2001) demonstrated the effectiveness of template systems in story generation, while Colton et al. (2012) applied similar principles to artistic creation. These systems balance structure with creativity, providing frameworks that guide but don't constrain innovation.</a:t>
            </a:r>
          </a:p>
          <a:p>
            <a:endParaRPr lang="en-IN" dirty="0"/>
          </a:p>
        </p:txBody>
      </p:sp>
      <p:sp>
        <p:nvSpPr>
          <p:cNvPr id="18" name="TextBox 17">
            <a:extLst>
              <a:ext uri="{FF2B5EF4-FFF2-40B4-BE49-F238E27FC236}">
                <a16:creationId xmlns:a16="http://schemas.microsoft.com/office/drawing/2014/main" id="{2D117B9D-545B-60A1-D921-9DA22200AAEC}"/>
              </a:ext>
            </a:extLst>
          </p:cNvPr>
          <p:cNvSpPr txBox="1"/>
          <p:nvPr/>
        </p:nvSpPr>
        <p:spPr>
          <a:xfrm>
            <a:off x="527539" y="5307597"/>
            <a:ext cx="12166777" cy="1477328"/>
          </a:xfrm>
          <a:prstGeom prst="rect">
            <a:avLst/>
          </a:prstGeom>
          <a:noFill/>
        </p:spPr>
        <p:txBody>
          <a:bodyPr wrap="square" rtlCol="0">
            <a:spAutoFit/>
          </a:bodyPr>
          <a:lstStyle/>
          <a:p>
            <a:r>
              <a:rPr lang="en-US" b="1" dirty="0"/>
              <a:t>2.4 Technology Adoption in Entrepreneurship</a:t>
            </a:r>
            <a:endParaRPr lang="en-US" dirty="0"/>
          </a:p>
          <a:p>
            <a:r>
              <a:rPr lang="en-US" dirty="0"/>
              <a:t>Rogers' (2003) Diffusion of Innovation theory explains how new technologies spread through markets. Our system incorporates this by matching emerging technologies with market opportunities, facilitating technology adoption in entrepreneurial contexts.</a:t>
            </a:r>
          </a:p>
          <a:p>
            <a:endParaRPr lang="en-IN" dirty="0"/>
          </a:p>
        </p:txBody>
      </p:sp>
    </p:spTree>
    <p:extLst>
      <p:ext uri="{BB962C8B-B14F-4D97-AF65-F5344CB8AC3E}">
        <p14:creationId xmlns:p14="http://schemas.microsoft.com/office/powerpoint/2010/main" val="2952923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F8239A-079B-27FC-F38F-2DE87087E8FA}"/>
              </a:ext>
            </a:extLst>
          </p:cNvPr>
          <p:cNvSpPr txBox="1"/>
          <p:nvPr/>
        </p:nvSpPr>
        <p:spPr>
          <a:xfrm>
            <a:off x="421385" y="397447"/>
            <a:ext cx="3294938" cy="1477328"/>
          </a:xfrm>
          <a:prstGeom prst="rect">
            <a:avLst/>
          </a:prstGeom>
          <a:noFill/>
        </p:spPr>
        <p:txBody>
          <a:bodyPr wrap="square" rtlCol="0">
            <a:spAutoFit/>
          </a:bodyPr>
          <a:lstStyle/>
          <a:p>
            <a:r>
              <a:rPr lang="en-IN" sz="2400" b="1" dirty="0"/>
              <a:t>3 </a:t>
            </a:r>
            <a:r>
              <a:rPr lang="en-IN" sz="2400" b="1" u="sng" dirty="0"/>
              <a:t>Related Work</a:t>
            </a:r>
          </a:p>
          <a:p>
            <a:endParaRPr lang="en-IN" sz="2400" b="1" dirty="0"/>
          </a:p>
          <a:p>
            <a:endParaRPr lang="en-IN" sz="2400" b="1" dirty="0"/>
          </a:p>
          <a:p>
            <a:endParaRPr lang="en-IN" dirty="0"/>
          </a:p>
        </p:txBody>
      </p:sp>
      <p:sp>
        <p:nvSpPr>
          <p:cNvPr id="6" name="TextBox 5">
            <a:extLst>
              <a:ext uri="{FF2B5EF4-FFF2-40B4-BE49-F238E27FC236}">
                <a16:creationId xmlns:a16="http://schemas.microsoft.com/office/drawing/2014/main" id="{FB1CD9FF-5FA2-537A-A3F1-6D7B1881EAE4}"/>
              </a:ext>
            </a:extLst>
          </p:cNvPr>
          <p:cNvSpPr txBox="1"/>
          <p:nvPr/>
        </p:nvSpPr>
        <p:spPr>
          <a:xfrm>
            <a:off x="492369" y="1325816"/>
            <a:ext cx="9718625" cy="5909310"/>
          </a:xfrm>
          <a:prstGeom prst="rect">
            <a:avLst/>
          </a:prstGeom>
          <a:noFill/>
        </p:spPr>
        <p:txBody>
          <a:bodyPr wrap="square" rtlCol="0">
            <a:spAutoFit/>
          </a:bodyPr>
          <a:lstStyle/>
          <a:p>
            <a:r>
              <a:rPr lang="en-US" b="1" dirty="0"/>
              <a:t>Celestin and Vanitha (2018)</a:t>
            </a:r>
            <a:r>
              <a:rPr lang="en-US" dirty="0"/>
              <a:t> examined the range of AI tools available to startups and emphasized their practical applications. Their work underscored the importance of accessible AI solutions in overcoming resource constraints and accelerating innovation processes. This aligns with the current study’s aim to </a:t>
            </a:r>
            <a:r>
              <a:rPr lang="en-US" u="sng" dirty="0"/>
              <a:t>develop an AI-based tool that facilitates structured and creative startup ideation.</a:t>
            </a:r>
          </a:p>
          <a:p>
            <a:r>
              <a:rPr lang="en-US" b="1" dirty="0"/>
              <a:t>Bandi et al. (2023)</a:t>
            </a:r>
            <a:r>
              <a:rPr lang="en-US" dirty="0"/>
              <a:t> presented a comprehensive review of generative AI, exploring its requirements, model architectures, input–output configurations, evaluation metrics, and associated challenges. They highlighted the adaptability of generative AI models in producing coherent, contextually relevant outputs, thereby reinforcing the suitability of such models for entrepreneurial ideation systems.</a:t>
            </a:r>
          </a:p>
          <a:p>
            <a:r>
              <a:rPr lang="en-US" b="1" dirty="0" err="1"/>
              <a:t>Barcaui</a:t>
            </a:r>
            <a:r>
              <a:rPr lang="en-US" b="1" dirty="0"/>
              <a:t> and Monat (2023)</a:t>
            </a:r>
            <a:r>
              <a:rPr lang="en-US" dirty="0"/>
              <a:t> conducted an empirical comparison of generative AI and human project managers in the context of project planning. Their findings suggested that generative AI could match or surpass human performance in certain planning tasks, particularly when structured data and pattern recognition are involved. This provides strong support for integrating generative AI into entrepreneurship support tools, as envisaged in the present study.</a:t>
            </a:r>
          </a:p>
          <a:p>
            <a:r>
              <a:rPr lang="en-US" b="1" dirty="0"/>
              <a:t>Samal et al. (2024)</a:t>
            </a:r>
            <a:r>
              <a:rPr lang="en-US" dirty="0"/>
              <a:t> investigated the role of AI-based innovation in augmenting the capabilities of startups across multiple sectors. Their work highlighted AI’s potential to deliver scalable and adaptive solutions that enhance innovation efficiency, directly supporting the objectives of the proposed AI-Powered Startup Idea Generator as a co-creative partner for entrepreneurs.</a:t>
            </a:r>
          </a:p>
          <a:p>
            <a:endParaRPr lang="en-IN" dirty="0"/>
          </a:p>
          <a:p>
            <a:endParaRPr lang="en-IN" dirty="0"/>
          </a:p>
        </p:txBody>
      </p:sp>
      <p:sp>
        <p:nvSpPr>
          <p:cNvPr id="7" name="TextBox 6">
            <a:extLst>
              <a:ext uri="{FF2B5EF4-FFF2-40B4-BE49-F238E27FC236}">
                <a16:creationId xmlns:a16="http://schemas.microsoft.com/office/drawing/2014/main" id="{300A2177-1FE8-691E-D579-3D7B68E02C20}"/>
              </a:ext>
            </a:extLst>
          </p:cNvPr>
          <p:cNvSpPr txBox="1"/>
          <p:nvPr/>
        </p:nvSpPr>
        <p:spPr>
          <a:xfrm>
            <a:off x="492369" y="2782669"/>
            <a:ext cx="184731" cy="646331"/>
          </a:xfrm>
          <a:prstGeom prst="rect">
            <a:avLst/>
          </a:prstGeom>
          <a:noFill/>
        </p:spPr>
        <p:txBody>
          <a:bodyPr wrap="none" rtlCol="0">
            <a:spAutoFit/>
          </a:bodyPr>
          <a:lstStyle/>
          <a:p>
            <a:endParaRPr lang="en-IN" b="1" dirty="0"/>
          </a:p>
          <a:p>
            <a:endParaRPr lang="en-IN" dirty="0"/>
          </a:p>
        </p:txBody>
      </p:sp>
      <p:sp>
        <p:nvSpPr>
          <p:cNvPr id="8" name="TextBox 7">
            <a:extLst>
              <a:ext uri="{FF2B5EF4-FFF2-40B4-BE49-F238E27FC236}">
                <a16:creationId xmlns:a16="http://schemas.microsoft.com/office/drawing/2014/main" id="{46EBC1BC-0B6E-2BCC-AA88-9B5A051C4DB5}"/>
              </a:ext>
            </a:extLst>
          </p:cNvPr>
          <p:cNvSpPr txBox="1"/>
          <p:nvPr/>
        </p:nvSpPr>
        <p:spPr>
          <a:xfrm>
            <a:off x="624255" y="3182815"/>
            <a:ext cx="184731" cy="646331"/>
          </a:xfrm>
          <a:prstGeom prst="rect">
            <a:avLst/>
          </a:prstGeom>
          <a:noFill/>
        </p:spPr>
        <p:txBody>
          <a:bodyPr wrap="none" rtlCol="0">
            <a:spAutoFit/>
          </a:bodyPr>
          <a:lstStyle/>
          <a:p>
            <a:endParaRPr lang="en-IN" dirty="0"/>
          </a:p>
          <a:p>
            <a:endParaRPr lang="en-IN" dirty="0"/>
          </a:p>
        </p:txBody>
      </p:sp>
      <p:sp>
        <p:nvSpPr>
          <p:cNvPr id="9" name="TextBox 8">
            <a:extLst>
              <a:ext uri="{FF2B5EF4-FFF2-40B4-BE49-F238E27FC236}">
                <a16:creationId xmlns:a16="http://schemas.microsoft.com/office/drawing/2014/main" id="{C7E38620-DD51-874E-9F65-B4909B1A5EDD}"/>
              </a:ext>
            </a:extLst>
          </p:cNvPr>
          <p:cNvSpPr txBox="1"/>
          <p:nvPr/>
        </p:nvSpPr>
        <p:spPr>
          <a:xfrm>
            <a:off x="694592" y="4552375"/>
            <a:ext cx="184731" cy="646331"/>
          </a:xfrm>
          <a:prstGeom prst="rect">
            <a:avLst/>
          </a:prstGeom>
          <a:noFill/>
        </p:spPr>
        <p:txBody>
          <a:bodyPr wrap="none" rtlCol="0">
            <a:spAutoFit/>
          </a:bodyPr>
          <a:lstStyle/>
          <a:p>
            <a:endParaRPr lang="en-IN" dirty="0"/>
          </a:p>
          <a:p>
            <a:endParaRPr lang="en-IN" dirty="0"/>
          </a:p>
        </p:txBody>
      </p:sp>
      <p:sp>
        <p:nvSpPr>
          <p:cNvPr id="2" name="TextBox 1">
            <a:extLst>
              <a:ext uri="{FF2B5EF4-FFF2-40B4-BE49-F238E27FC236}">
                <a16:creationId xmlns:a16="http://schemas.microsoft.com/office/drawing/2014/main" id="{1FCF585A-5907-EEC2-4E5A-340AA3116A4C}"/>
              </a:ext>
            </a:extLst>
          </p:cNvPr>
          <p:cNvSpPr txBox="1"/>
          <p:nvPr/>
        </p:nvSpPr>
        <p:spPr>
          <a:xfrm>
            <a:off x="421385" y="894894"/>
            <a:ext cx="4054315" cy="646331"/>
          </a:xfrm>
          <a:prstGeom prst="rect">
            <a:avLst/>
          </a:prstGeom>
          <a:noFill/>
        </p:spPr>
        <p:txBody>
          <a:bodyPr wrap="none" rtlCol="0">
            <a:spAutoFit/>
          </a:bodyPr>
          <a:lstStyle/>
          <a:p>
            <a:r>
              <a:rPr lang="en-US" dirty="0"/>
              <a:t>AI in Entrepreneurship and Innovation </a:t>
            </a:r>
          </a:p>
          <a:p>
            <a:endParaRPr lang="en-IN" dirty="0"/>
          </a:p>
        </p:txBody>
      </p:sp>
    </p:spTree>
    <p:extLst>
      <p:ext uri="{BB962C8B-B14F-4D97-AF65-F5344CB8AC3E}">
        <p14:creationId xmlns:p14="http://schemas.microsoft.com/office/powerpoint/2010/main" val="1719056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B292320-C104-979E-CDFC-D9403EFD8955}"/>
              </a:ext>
            </a:extLst>
          </p:cNvPr>
          <p:cNvSpPr txBox="1"/>
          <p:nvPr/>
        </p:nvSpPr>
        <p:spPr>
          <a:xfrm>
            <a:off x="6786550" y="922751"/>
            <a:ext cx="5540395" cy="3970318"/>
          </a:xfrm>
          <a:prstGeom prst="rect">
            <a:avLst/>
          </a:prstGeom>
          <a:noFill/>
        </p:spPr>
        <p:txBody>
          <a:bodyPr wrap="square" rtlCol="0">
            <a:spAutoFit/>
          </a:bodyPr>
          <a:lstStyle/>
          <a:p>
            <a:r>
              <a:rPr lang="en-IN" b="1" dirty="0"/>
              <a:t>3. Data Collection</a:t>
            </a:r>
          </a:p>
          <a:p>
            <a:r>
              <a:rPr lang="en-IN" b="1" dirty="0"/>
              <a:t>Sources Used:</a:t>
            </a:r>
            <a:endParaRPr lang="en-IN" dirty="0"/>
          </a:p>
          <a:p>
            <a:pPr lvl="1"/>
            <a:r>
              <a:rPr lang="en-IN" dirty="0"/>
              <a:t>Startup databases (e.g., Crunchbase, AngelList)</a:t>
            </a:r>
          </a:p>
          <a:p>
            <a:pPr lvl="1"/>
            <a:r>
              <a:rPr lang="en-IN" dirty="0"/>
              <a:t>Market research reports (Statista, Gartner)</a:t>
            </a:r>
          </a:p>
          <a:p>
            <a:pPr lvl="1"/>
            <a:r>
              <a:rPr lang="en-IN" dirty="0"/>
              <a:t>Academic literature on innovation and entrepreneurship</a:t>
            </a:r>
          </a:p>
          <a:p>
            <a:pPr lvl="1"/>
            <a:r>
              <a:rPr lang="en-IN" dirty="0"/>
              <a:t>Social media trend data (Twitter, LinkedIn startup posts)</a:t>
            </a:r>
          </a:p>
          <a:p>
            <a:r>
              <a:rPr lang="en-IN" b="1" dirty="0"/>
              <a:t>Data Types:</a:t>
            </a:r>
            <a:endParaRPr lang="en-IN" dirty="0"/>
          </a:p>
          <a:p>
            <a:pPr lvl="1"/>
            <a:r>
              <a:rPr lang="en-IN" dirty="0"/>
              <a:t>Business descriptions</a:t>
            </a:r>
          </a:p>
          <a:p>
            <a:pPr lvl="1"/>
            <a:r>
              <a:rPr lang="en-IN" dirty="0"/>
              <a:t>Industry categories</a:t>
            </a:r>
          </a:p>
          <a:p>
            <a:pPr lvl="1"/>
            <a:r>
              <a:rPr lang="en-IN" dirty="0"/>
              <a:t>Market demand signals</a:t>
            </a:r>
          </a:p>
          <a:p>
            <a:pPr lvl="1"/>
            <a:r>
              <a:rPr lang="en-IN" dirty="0"/>
              <a:t>Technology tags</a:t>
            </a:r>
          </a:p>
          <a:p>
            <a:endParaRPr lang="en-IN" dirty="0"/>
          </a:p>
        </p:txBody>
      </p:sp>
      <p:graphicFrame>
        <p:nvGraphicFramePr>
          <p:cNvPr id="8" name="Table 7">
            <a:extLst>
              <a:ext uri="{FF2B5EF4-FFF2-40B4-BE49-F238E27FC236}">
                <a16:creationId xmlns:a16="http://schemas.microsoft.com/office/drawing/2014/main" id="{40F923E6-AE24-18E2-7B8C-585B6A376453}"/>
              </a:ext>
            </a:extLst>
          </p:cNvPr>
          <p:cNvGraphicFramePr>
            <a:graphicFrameLocks noGrp="1"/>
          </p:cNvGraphicFramePr>
          <p:nvPr>
            <p:extLst>
              <p:ext uri="{D42A27DB-BD31-4B8C-83A1-F6EECF244321}">
                <p14:modId xmlns:p14="http://schemas.microsoft.com/office/powerpoint/2010/main" val="1853173696"/>
              </p:ext>
            </p:extLst>
          </p:nvPr>
        </p:nvGraphicFramePr>
        <p:xfrm>
          <a:off x="467028" y="2553191"/>
          <a:ext cx="6319522" cy="4023360"/>
        </p:xfrm>
        <a:graphic>
          <a:graphicData uri="http://schemas.openxmlformats.org/drawingml/2006/table">
            <a:tbl>
              <a:tblPr/>
              <a:tblGrid>
                <a:gridCol w="3159761">
                  <a:extLst>
                    <a:ext uri="{9D8B030D-6E8A-4147-A177-3AD203B41FA5}">
                      <a16:colId xmlns:a16="http://schemas.microsoft.com/office/drawing/2014/main" val="1917060478"/>
                    </a:ext>
                  </a:extLst>
                </a:gridCol>
                <a:gridCol w="3159761">
                  <a:extLst>
                    <a:ext uri="{9D8B030D-6E8A-4147-A177-3AD203B41FA5}">
                      <a16:colId xmlns:a16="http://schemas.microsoft.com/office/drawing/2014/main" val="2402443443"/>
                    </a:ext>
                  </a:extLst>
                </a:gridCol>
              </a:tblGrid>
              <a:tr h="343783">
                <a:tc>
                  <a:txBody>
                    <a:bodyPr/>
                    <a:lstStyle/>
                    <a:p>
                      <a:pPr>
                        <a:buNone/>
                      </a:pPr>
                      <a:r>
                        <a:rPr lang="en-IN" sz="1800" dirty="0"/>
                        <a:t>Module</a:t>
                      </a:r>
                    </a:p>
                  </a:txBody>
                  <a:tcPr anchor="ctr">
                    <a:lnL>
                      <a:noFill/>
                    </a:lnL>
                    <a:lnR>
                      <a:noFill/>
                    </a:lnR>
                    <a:lnT>
                      <a:noFill/>
                    </a:lnT>
                    <a:lnB>
                      <a:noFill/>
                    </a:lnB>
                    <a:noFill/>
                  </a:tcPr>
                </a:tc>
                <a:tc>
                  <a:txBody>
                    <a:bodyPr/>
                    <a:lstStyle/>
                    <a:p>
                      <a:pPr>
                        <a:buNone/>
                      </a:pPr>
                      <a:r>
                        <a:rPr lang="en-IN" sz="1800"/>
                        <a:t>Function</a:t>
                      </a:r>
                    </a:p>
                  </a:txBody>
                  <a:tcPr anchor="ctr">
                    <a:lnL>
                      <a:noFill/>
                    </a:lnL>
                    <a:lnR>
                      <a:noFill/>
                    </a:lnR>
                    <a:lnT>
                      <a:noFill/>
                    </a:lnT>
                    <a:lnB>
                      <a:noFill/>
                    </a:lnB>
                    <a:noFill/>
                  </a:tcPr>
                </a:tc>
                <a:extLst>
                  <a:ext uri="{0D108BD9-81ED-4DB2-BD59-A6C34878D82A}">
                    <a16:rowId xmlns:a16="http://schemas.microsoft.com/office/drawing/2014/main" val="4126046653"/>
                  </a:ext>
                </a:extLst>
              </a:tr>
              <a:tr h="859457">
                <a:tc>
                  <a:txBody>
                    <a:bodyPr/>
                    <a:lstStyle/>
                    <a:p>
                      <a:pPr>
                        <a:buNone/>
                      </a:pPr>
                      <a:r>
                        <a:rPr lang="en-IN" sz="1800" b="1" dirty="0"/>
                        <a:t>User Input Interface</a:t>
                      </a:r>
                      <a:endParaRPr lang="en-IN" sz="1800" dirty="0"/>
                    </a:p>
                  </a:txBody>
                  <a:tcPr anchor="ctr">
                    <a:lnL>
                      <a:noFill/>
                    </a:lnL>
                    <a:lnR>
                      <a:noFill/>
                    </a:lnR>
                    <a:lnT>
                      <a:noFill/>
                    </a:lnT>
                    <a:lnB>
                      <a:noFill/>
                    </a:lnB>
                    <a:noFill/>
                  </a:tcPr>
                </a:tc>
                <a:tc>
                  <a:txBody>
                    <a:bodyPr/>
                    <a:lstStyle/>
                    <a:p>
                      <a:pPr>
                        <a:buNone/>
                      </a:pPr>
                      <a:r>
                        <a:rPr lang="en-US" sz="1800" dirty="0"/>
                        <a:t>Collects domain preferences, budget, target audience, and business interest areas.</a:t>
                      </a:r>
                    </a:p>
                  </a:txBody>
                  <a:tcPr anchor="ctr">
                    <a:lnL>
                      <a:noFill/>
                    </a:lnL>
                    <a:lnR>
                      <a:noFill/>
                    </a:lnR>
                    <a:lnT>
                      <a:noFill/>
                    </a:lnT>
                    <a:lnB>
                      <a:noFill/>
                    </a:lnB>
                    <a:noFill/>
                  </a:tcPr>
                </a:tc>
                <a:extLst>
                  <a:ext uri="{0D108BD9-81ED-4DB2-BD59-A6C34878D82A}">
                    <a16:rowId xmlns:a16="http://schemas.microsoft.com/office/drawing/2014/main" val="1531509439"/>
                  </a:ext>
                </a:extLst>
              </a:tr>
              <a:tr h="859457">
                <a:tc>
                  <a:txBody>
                    <a:bodyPr/>
                    <a:lstStyle/>
                    <a:p>
                      <a:pPr>
                        <a:buNone/>
                      </a:pPr>
                      <a:r>
                        <a:rPr lang="en-IN" sz="1800" b="1"/>
                        <a:t>Knowledge Base</a:t>
                      </a:r>
                      <a:endParaRPr lang="en-IN" sz="1800"/>
                    </a:p>
                  </a:txBody>
                  <a:tcPr anchor="ctr">
                    <a:lnL>
                      <a:noFill/>
                    </a:lnL>
                    <a:lnR>
                      <a:noFill/>
                    </a:lnR>
                    <a:lnT>
                      <a:noFill/>
                    </a:lnT>
                    <a:lnB>
                      <a:noFill/>
                    </a:lnB>
                    <a:noFill/>
                  </a:tcPr>
                </a:tc>
                <a:tc>
                  <a:txBody>
                    <a:bodyPr/>
                    <a:lstStyle/>
                    <a:p>
                      <a:pPr>
                        <a:buNone/>
                      </a:pPr>
                      <a:r>
                        <a:rPr lang="en-US" sz="1800" dirty="0"/>
                        <a:t>Stores datasets of existing startups, trends, market reports, and business models.</a:t>
                      </a:r>
                    </a:p>
                  </a:txBody>
                  <a:tcPr anchor="ctr">
                    <a:lnL>
                      <a:noFill/>
                    </a:lnL>
                    <a:lnR>
                      <a:noFill/>
                    </a:lnR>
                    <a:lnT>
                      <a:noFill/>
                    </a:lnT>
                    <a:lnB>
                      <a:noFill/>
                    </a:lnB>
                    <a:noFill/>
                  </a:tcPr>
                </a:tc>
                <a:extLst>
                  <a:ext uri="{0D108BD9-81ED-4DB2-BD59-A6C34878D82A}">
                    <a16:rowId xmlns:a16="http://schemas.microsoft.com/office/drawing/2014/main" val="2650483387"/>
                  </a:ext>
                </a:extLst>
              </a:tr>
              <a:tr h="859457">
                <a:tc>
                  <a:txBody>
                    <a:bodyPr/>
                    <a:lstStyle/>
                    <a:p>
                      <a:pPr>
                        <a:buNone/>
                      </a:pPr>
                      <a:r>
                        <a:rPr lang="en-IN" sz="1800" b="1"/>
                        <a:t>AI Idea Generation Engine</a:t>
                      </a:r>
                      <a:endParaRPr lang="en-IN" sz="1800"/>
                    </a:p>
                  </a:txBody>
                  <a:tcPr anchor="ctr">
                    <a:lnL>
                      <a:noFill/>
                    </a:lnL>
                    <a:lnR>
                      <a:noFill/>
                    </a:lnR>
                    <a:lnT>
                      <a:noFill/>
                    </a:lnT>
                    <a:lnB>
                      <a:noFill/>
                    </a:lnB>
                    <a:noFill/>
                  </a:tcPr>
                </a:tc>
                <a:tc>
                  <a:txBody>
                    <a:bodyPr/>
                    <a:lstStyle/>
                    <a:p>
                      <a:pPr>
                        <a:buNone/>
                      </a:pPr>
                      <a:r>
                        <a:rPr lang="en-US" sz="1800"/>
                        <a:t>Uses NLP and ML models to generate, refine, and structure startup ideas.</a:t>
                      </a:r>
                    </a:p>
                  </a:txBody>
                  <a:tcPr anchor="ctr">
                    <a:lnL>
                      <a:noFill/>
                    </a:lnL>
                    <a:lnR>
                      <a:noFill/>
                    </a:lnR>
                    <a:lnT>
                      <a:noFill/>
                    </a:lnT>
                    <a:lnB>
                      <a:noFill/>
                    </a:lnB>
                    <a:noFill/>
                  </a:tcPr>
                </a:tc>
                <a:extLst>
                  <a:ext uri="{0D108BD9-81ED-4DB2-BD59-A6C34878D82A}">
                    <a16:rowId xmlns:a16="http://schemas.microsoft.com/office/drawing/2014/main" val="1860765776"/>
                  </a:ext>
                </a:extLst>
              </a:tr>
              <a:tr h="601620">
                <a:tc>
                  <a:txBody>
                    <a:bodyPr/>
                    <a:lstStyle/>
                    <a:p>
                      <a:pPr>
                        <a:buNone/>
                      </a:pPr>
                      <a:r>
                        <a:rPr lang="en-IN" sz="1800" b="1"/>
                        <a:t>Evaluation &amp; Ranking Module</a:t>
                      </a:r>
                      <a:endParaRPr lang="en-IN" sz="1800"/>
                    </a:p>
                  </a:txBody>
                  <a:tcPr anchor="ctr">
                    <a:lnL>
                      <a:noFill/>
                    </a:lnL>
                    <a:lnR>
                      <a:noFill/>
                    </a:lnR>
                    <a:lnT>
                      <a:noFill/>
                    </a:lnT>
                    <a:lnB>
                      <a:noFill/>
                    </a:lnB>
                    <a:noFill/>
                  </a:tcPr>
                </a:tc>
                <a:tc>
                  <a:txBody>
                    <a:bodyPr/>
                    <a:lstStyle/>
                    <a:p>
                      <a:pPr>
                        <a:buNone/>
                      </a:pPr>
                      <a:r>
                        <a:rPr lang="en-US" sz="1800" dirty="0"/>
                        <a:t>Scores ideas based on creativity, feasibility, and market potential.</a:t>
                      </a:r>
                    </a:p>
                  </a:txBody>
                  <a:tcPr anchor="ctr">
                    <a:lnL>
                      <a:noFill/>
                    </a:lnL>
                    <a:lnR>
                      <a:noFill/>
                    </a:lnR>
                    <a:lnT>
                      <a:noFill/>
                    </a:lnT>
                    <a:lnB>
                      <a:noFill/>
                    </a:lnB>
                    <a:noFill/>
                  </a:tcPr>
                </a:tc>
                <a:extLst>
                  <a:ext uri="{0D108BD9-81ED-4DB2-BD59-A6C34878D82A}">
                    <a16:rowId xmlns:a16="http://schemas.microsoft.com/office/drawing/2014/main" val="1231304871"/>
                  </a:ext>
                </a:extLst>
              </a:tr>
            </a:tbl>
          </a:graphicData>
        </a:graphic>
      </p:graphicFrame>
      <p:sp>
        <p:nvSpPr>
          <p:cNvPr id="9" name="Rectangle 1">
            <a:extLst>
              <a:ext uri="{FF2B5EF4-FFF2-40B4-BE49-F238E27FC236}">
                <a16:creationId xmlns:a16="http://schemas.microsoft.com/office/drawing/2014/main" id="{90DA2A6C-0A28-AA0D-746B-BB1331A38607}"/>
              </a:ext>
            </a:extLst>
          </p:cNvPr>
          <p:cNvSpPr>
            <a:spLocks noChangeArrowheads="1"/>
          </p:cNvSpPr>
          <p:nvPr/>
        </p:nvSpPr>
        <p:spPr bwMode="auto">
          <a:xfrm>
            <a:off x="677545" y="619232"/>
            <a:ext cx="9998094"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B999422C-AEC6-2AF1-C8EA-A975E4225E47}"/>
              </a:ext>
            </a:extLst>
          </p:cNvPr>
          <p:cNvSpPr txBox="1"/>
          <p:nvPr/>
        </p:nvSpPr>
        <p:spPr>
          <a:xfrm>
            <a:off x="389289" y="2067088"/>
            <a:ext cx="2547429" cy="369332"/>
          </a:xfrm>
          <a:prstGeom prst="rect">
            <a:avLst/>
          </a:prstGeom>
          <a:noFill/>
        </p:spPr>
        <p:txBody>
          <a:bodyPr wrap="none" rtlCol="0">
            <a:spAutoFit/>
          </a:bodyPr>
          <a:lstStyle/>
          <a:p>
            <a:r>
              <a:rPr lang="en-IN" dirty="0"/>
              <a:t>2. </a:t>
            </a:r>
            <a:r>
              <a:rPr lang="en-IN" b="1" dirty="0"/>
              <a:t>System Architecture </a:t>
            </a:r>
            <a:endParaRPr lang="en-IN" dirty="0"/>
          </a:p>
        </p:txBody>
      </p:sp>
      <p:sp>
        <p:nvSpPr>
          <p:cNvPr id="11" name="TextBox 10">
            <a:extLst>
              <a:ext uri="{FF2B5EF4-FFF2-40B4-BE49-F238E27FC236}">
                <a16:creationId xmlns:a16="http://schemas.microsoft.com/office/drawing/2014/main" id="{A219864F-1CBB-9B19-91D7-0F61FF38BBB6}"/>
              </a:ext>
            </a:extLst>
          </p:cNvPr>
          <p:cNvSpPr txBox="1"/>
          <p:nvPr/>
        </p:nvSpPr>
        <p:spPr>
          <a:xfrm>
            <a:off x="389289" y="922751"/>
            <a:ext cx="4785360" cy="1477328"/>
          </a:xfrm>
          <a:prstGeom prst="rect">
            <a:avLst/>
          </a:prstGeom>
          <a:noFill/>
        </p:spPr>
        <p:txBody>
          <a:bodyPr wrap="square" rtlCol="0">
            <a:spAutoFit/>
          </a:bodyPr>
          <a:lstStyle/>
          <a:p>
            <a:r>
              <a:rPr lang="en-US" b="1" dirty="0"/>
              <a:t>1. Analysis</a:t>
            </a:r>
          </a:p>
          <a:p>
            <a:r>
              <a:rPr lang="en-US" dirty="0"/>
              <a:t>Literature review and gap identification</a:t>
            </a:r>
          </a:p>
          <a:p>
            <a:r>
              <a:rPr lang="en-US" dirty="0"/>
              <a:t>Requirements gathering</a:t>
            </a:r>
          </a:p>
          <a:p>
            <a:r>
              <a:rPr lang="en-US" dirty="0"/>
              <a:t>Technical feasibility assessment</a:t>
            </a:r>
          </a:p>
          <a:p>
            <a:endParaRPr lang="en-IN" dirty="0"/>
          </a:p>
        </p:txBody>
      </p:sp>
      <p:sp>
        <p:nvSpPr>
          <p:cNvPr id="13" name="TextBox 12">
            <a:extLst>
              <a:ext uri="{FF2B5EF4-FFF2-40B4-BE49-F238E27FC236}">
                <a16:creationId xmlns:a16="http://schemas.microsoft.com/office/drawing/2014/main" id="{0A2A454E-016F-3EAE-0CA5-A02FBCBDD9E3}"/>
              </a:ext>
            </a:extLst>
          </p:cNvPr>
          <p:cNvSpPr txBox="1"/>
          <p:nvPr/>
        </p:nvSpPr>
        <p:spPr>
          <a:xfrm>
            <a:off x="389289" y="388399"/>
            <a:ext cx="2254143" cy="738664"/>
          </a:xfrm>
          <a:prstGeom prst="rect">
            <a:avLst/>
          </a:prstGeom>
          <a:noFill/>
        </p:spPr>
        <p:txBody>
          <a:bodyPr wrap="none" rtlCol="0">
            <a:spAutoFit/>
          </a:bodyPr>
          <a:lstStyle/>
          <a:p>
            <a:r>
              <a:rPr lang="en-IN" sz="2400" b="1" dirty="0"/>
              <a:t>4.</a:t>
            </a:r>
            <a:r>
              <a:rPr lang="en-IN" sz="2400" b="1" u="sng" dirty="0"/>
              <a:t>Methodology</a:t>
            </a:r>
          </a:p>
          <a:p>
            <a:endParaRPr lang="en-IN" dirty="0"/>
          </a:p>
        </p:txBody>
      </p:sp>
    </p:spTree>
    <p:extLst>
      <p:ext uri="{BB962C8B-B14F-4D97-AF65-F5344CB8AC3E}">
        <p14:creationId xmlns:p14="http://schemas.microsoft.com/office/powerpoint/2010/main" val="193867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26E2F85-6086-D21B-9FF2-EADEABF277C5}"/>
              </a:ext>
            </a:extLst>
          </p:cNvPr>
          <p:cNvSpPr txBox="1"/>
          <p:nvPr/>
        </p:nvSpPr>
        <p:spPr>
          <a:xfrm>
            <a:off x="448407" y="74997"/>
            <a:ext cx="4888864" cy="1200329"/>
          </a:xfrm>
          <a:prstGeom prst="rect">
            <a:avLst/>
          </a:prstGeom>
          <a:noFill/>
        </p:spPr>
        <p:txBody>
          <a:bodyPr wrap="square" rtlCol="0">
            <a:spAutoFit/>
          </a:bodyPr>
          <a:lstStyle/>
          <a:p>
            <a:endParaRPr lang="en-IN" dirty="0"/>
          </a:p>
          <a:p>
            <a:br>
              <a:rPr lang="en-IN" dirty="0"/>
            </a:br>
            <a:endParaRPr lang="en-IN" dirty="0"/>
          </a:p>
          <a:p>
            <a:endParaRPr lang="en-IN" dirty="0"/>
          </a:p>
        </p:txBody>
      </p:sp>
      <p:sp>
        <p:nvSpPr>
          <p:cNvPr id="9" name="TextBox 8">
            <a:extLst>
              <a:ext uri="{FF2B5EF4-FFF2-40B4-BE49-F238E27FC236}">
                <a16:creationId xmlns:a16="http://schemas.microsoft.com/office/drawing/2014/main" id="{DECB9B7A-5884-47B6-390D-B4B9FBD0DEF5}"/>
              </a:ext>
            </a:extLst>
          </p:cNvPr>
          <p:cNvSpPr txBox="1"/>
          <p:nvPr/>
        </p:nvSpPr>
        <p:spPr>
          <a:xfrm>
            <a:off x="538480" y="436838"/>
            <a:ext cx="8148320" cy="6555641"/>
          </a:xfrm>
          <a:prstGeom prst="rect">
            <a:avLst/>
          </a:prstGeom>
          <a:noFill/>
        </p:spPr>
        <p:txBody>
          <a:bodyPr wrap="square" rtlCol="0">
            <a:spAutoFit/>
          </a:bodyPr>
          <a:lstStyle/>
          <a:p>
            <a:r>
              <a:rPr lang="en-IN" sz="2400" b="1" dirty="0"/>
              <a:t>5.</a:t>
            </a:r>
            <a:r>
              <a:rPr lang="en-IN" sz="2400" b="1" u="sng" dirty="0"/>
              <a:t>Our Project's Algorithm</a:t>
            </a:r>
            <a:endParaRPr lang="en-IN" sz="2400" u="sng" dirty="0"/>
          </a:p>
          <a:p>
            <a:r>
              <a:rPr lang="en-IN" b="1" dirty="0"/>
              <a:t> Startup Idea Generation</a:t>
            </a:r>
          </a:p>
          <a:p>
            <a:endParaRPr lang="en-IN" dirty="0"/>
          </a:p>
          <a:p>
            <a:r>
              <a:rPr lang="en-IN" dirty="0"/>
              <a:t>Algorithm: Preference-Based Idea Generation</a:t>
            </a:r>
          </a:p>
          <a:p>
            <a:r>
              <a:rPr lang="en-IN" dirty="0"/>
              <a:t>Input: User preferences (industry, technology, audience, budget)</a:t>
            </a:r>
          </a:p>
          <a:p>
            <a:endParaRPr lang="en-IN" dirty="0"/>
          </a:p>
          <a:p>
            <a:r>
              <a:rPr lang="en-IN" dirty="0"/>
              <a:t>Process:</a:t>
            </a:r>
          </a:p>
          <a:p>
            <a:r>
              <a:rPr lang="en-IN" dirty="0"/>
              <a:t>1. Load predefined templates and data structures</a:t>
            </a:r>
          </a:p>
          <a:p>
            <a:pPr marL="342900" indent="-342900">
              <a:buAutoNum type="arabicPeriod"/>
            </a:pPr>
            <a:endParaRPr lang="en-IN" dirty="0"/>
          </a:p>
          <a:p>
            <a:r>
              <a:rPr lang="en-IN" dirty="0"/>
              <a:t>2. Filter options based on user preferences</a:t>
            </a:r>
          </a:p>
          <a:p>
            <a:endParaRPr lang="en-IN" dirty="0"/>
          </a:p>
          <a:p>
            <a:r>
              <a:rPr lang="en-IN" dirty="0"/>
              <a:t>3. Randomly select components:</a:t>
            </a:r>
          </a:p>
          <a:p>
            <a:r>
              <a:rPr lang="en-IN" dirty="0"/>
              <a:t>   -industries[</a:t>
            </a:r>
            <a:r>
              <a:rPr lang="en-IN" dirty="0" err="1"/>
              <a:t>preference.industry</a:t>
            </a:r>
            <a:r>
              <a:rPr lang="en-IN" dirty="0"/>
              <a:t>])</a:t>
            </a:r>
          </a:p>
          <a:p>
            <a:r>
              <a:rPr lang="en-IN" dirty="0"/>
              <a:t>   - technologies[</a:t>
            </a:r>
            <a:r>
              <a:rPr lang="en-IN" dirty="0" err="1"/>
              <a:t>preference.technology</a:t>
            </a:r>
            <a:r>
              <a:rPr lang="en-IN" dirty="0"/>
              <a:t>]</a:t>
            </a:r>
          </a:p>
          <a:p>
            <a:r>
              <a:rPr lang="en-IN" dirty="0"/>
              <a:t>   -audiences[</a:t>
            </a:r>
            <a:r>
              <a:rPr lang="en-IN" dirty="0" err="1"/>
              <a:t>preference.audience</a:t>
            </a:r>
            <a:r>
              <a:rPr lang="en-IN" dirty="0"/>
              <a:t>]</a:t>
            </a:r>
          </a:p>
          <a:p>
            <a:endParaRPr lang="en-IN" dirty="0"/>
          </a:p>
          <a:p>
            <a:r>
              <a:rPr lang="en-IN" dirty="0"/>
              <a:t>4. Generate description using template:</a:t>
            </a:r>
          </a:p>
          <a:p>
            <a:r>
              <a:rPr lang="en-IN" dirty="0"/>
              <a:t>5. Select monetization model </a:t>
            </a:r>
          </a:p>
          <a:p>
            <a:r>
              <a:rPr lang="en-IN" dirty="0"/>
              <a:t>6. Generate challenges and opportunities based on industry/budget</a:t>
            </a:r>
          </a:p>
          <a:p>
            <a:r>
              <a:rPr lang="en-IN" dirty="0"/>
              <a:t>7. Create </a:t>
            </a:r>
            <a:r>
              <a:rPr lang="en-IN" dirty="0" err="1"/>
              <a:t>StartupIdea</a:t>
            </a:r>
            <a:r>
              <a:rPr lang="en-IN" dirty="0"/>
              <a:t> object</a:t>
            </a:r>
          </a:p>
          <a:p>
            <a:endParaRPr lang="en-IN" dirty="0"/>
          </a:p>
          <a:p>
            <a:r>
              <a:rPr lang="en-IN" dirty="0"/>
              <a:t>Output: Complete startup idea with all components</a:t>
            </a:r>
          </a:p>
          <a:p>
            <a:endParaRPr lang="en-IN" dirty="0"/>
          </a:p>
        </p:txBody>
      </p:sp>
    </p:spTree>
    <p:extLst>
      <p:ext uri="{BB962C8B-B14F-4D97-AF65-F5344CB8AC3E}">
        <p14:creationId xmlns:p14="http://schemas.microsoft.com/office/powerpoint/2010/main" val="1351953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608B978-E117-893E-059E-4865EBE0A3AC}"/>
              </a:ext>
            </a:extLst>
          </p:cNvPr>
          <p:cNvSpPr txBox="1"/>
          <p:nvPr/>
        </p:nvSpPr>
        <p:spPr>
          <a:xfrm>
            <a:off x="3400834" y="-8792"/>
            <a:ext cx="3290644" cy="738664"/>
          </a:xfrm>
          <a:prstGeom prst="rect">
            <a:avLst/>
          </a:prstGeom>
          <a:noFill/>
        </p:spPr>
        <p:txBody>
          <a:bodyPr wrap="none" rtlCol="0">
            <a:spAutoFit/>
          </a:bodyPr>
          <a:lstStyle/>
          <a:p>
            <a:r>
              <a:rPr lang="en-IN" sz="2400" b="1" dirty="0"/>
              <a:t>6. </a:t>
            </a:r>
            <a:r>
              <a:rPr lang="en-IN" sz="2400" b="1" u="sng" dirty="0"/>
              <a:t>Results and Analysis</a:t>
            </a:r>
            <a:endParaRPr lang="en-IN" sz="2400" u="sng" dirty="0"/>
          </a:p>
          <a:p>
            <a:endParaRPr lang="en-IN" dirty="0"/>
          </a:p>
        </p:txBody>
      </p:sp>
      <p:sp>
        <p:nvSpPr>
          <p:cNvPr id="9" name="TextBox 8">
            <a:extLst>
              <a:ext uri="{FF2B5EF4-FFF2-40B4-BE49-F238E27FC236}">
                <a16:creationId xmlns:a16="http://schemas.microsoft.com/office/drawing/2014/main" id="{E64EEB5F-BAE2-8B13-9037-0F851AE6F184}"/>
              </a:ext>
            </a:extLst>
          </p:cNvPr>
          <p:cNvSpPr txBox="1"/>
          <p:nvPr/>
        </p:nvSpPr>
        <p:spPr>
          <a:xfrm>
            <a:off x="8426418" y="276971"/>
            <a:ext cx="2221827" cy="646331"/>
          </a:xfrm>
          <a:prstGeom prst="rect">
            <a:avLst/>
          </a:prstGeom>
          <a:noFill/>
        </p:spPr>
        <p:txBody>
          <a:bodyPr wrap="none" rtlCol="0">
            <a:spAutoFit/>
          </a:bodyPr>
          <a:lstStyle/>
          <a:p>
            <a:r>
              <a:rPr lang="en-IN" b="1" dirty="0"/>
              <a:t>5.2 Feature Analysis</a:t>
            </a:r>
            <a:endParaRPr lang="en-IN" dirty="0"/>
          </a:p>
          <a:p>
            <a:endParaRPr lang="en-IN" dirty="0"/>
          </a:p>
        </p:txBody>
      </p:sp>
      <p:sp>
        <p:nvSpPr>
          <p:cNvPr id="25" name="TextBox 24">
            <a:extLst>
              <a:ext uri="{FF2B5EF4-FFF2-40B4-BE49-F238E27FC236}">
                <a16:creationId xmlns:a16="http://schemas.microsoft.com/office/drawing/2014/main" id="{37F3E561-DE81-BF42-DB38-24A3962F2188}"/>
              </a:ext>
            </a:extLst>
          </p:cNvPr>
          <p:cNvSpPr txBox="1"/>
          <p:nvPr/>
        </p:nvSpPr>
        <p:spPr>
          <a:xfrm>
            <a:off x="3400834" y="422361"/>
            <a:ext cx="2695166" cy="923330"/>
          </a:xfrm>
          <a:prstGeom prst="rect">
            <a:avLst/>
          </a:prstGeom>
          <a:noFill/>
        </p:spPr>
        <p:txBody>
          <a:bodyPr wrap="square" rtlCol="0">
            <a:spAutoFit/>
          </a:bodyPr>
          <a:lstStyle/>
          <a:p>
            <a:r>
              <a:rPr lang="en-IN" b="1" dirty="0"/>
              <a:t>5.1 System Capabilities</a:t>
            </a:r>
            <a:endParaRPr lang="en-IN" dirty="0"/>
          </a:p>
          <a:p>
            <a:endParaRPr lang="en-IN" dirty="0"/>
          </a:p>
        </p:txBody>
      </p:sp>
      <p:pic>
        <p:nvPicPr>
          <p:cNvPr id="29" name="Graphic 28" descr="Theatre with solid fill">
            <a:extLst>
              <a:ext uri="{FF2B5EF4-FFF2-40B4-BE49-F238E27FC236}">
                <a16:creationId xmlns:a16="http://schemas.microsoft.com/office/drawing/2014/main" id="{9DFF68CD-47BF-4461-EFD3-229EC165C08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00834" y="3476419"/>
            <a:ext cx="3752563" cy="3752563"/>
          </a:xfrm>
          <a:prstGeom prst="rect">
            <a:avLst/>
          </a:prstGeom>
        </p:spPr>
      </p:pic>
      <p:sp>
        <p:nvSpPr>
          <p:cNvPr id="2" name="TextBox 1">
            <a:extLst>
              <a:ext uri="{FF2B5EF4-FFF2-40B4-BE49-F238E27FC236}">
                <a16:creationId xmlns:a16="http://schemas.microsoft.com/office/drawing/2014/main" id="{2541EB64-5188-B001-835B-71BCEF13FD02}"/>
              </a:ext>
            </a:extLst>
          </p:cNvPr>
          <p:cNvSpPr txBox="1"/>
          <p:nvPr/>
        </p:nvSpPr>
        <p:spPr>
          <a:xfrm>
            <a:off x="3473042" y="860067"/>
            <a:ext cx="3900881" cy="2308324"/>
          </a:xfrm>
          <a:prstGeom prst="rect">
            <a:avLst/>
          </a:prstGeom>
          <a:noFill/>
        </p:spPr>
        <p:txBody>
          <a:bodyPr wrap="square" rtlCol="0">
            <a:spAutoFit/>
          </a:bodyPr>
          <a:lstStyle/>
          <a:p>
            <a:r>
              <a:rPr lang="en-US" b="1" dirty="0"/>
              <a:t>Comprehensive Concepts:</a:t>
            </a:r>
            <a:r>
              <a:rPr lang="en-US" dirty="0"/>
              <a:t> Complete business model components</a:t>
            </a:r>
            <a:endParaRPr lang="en-IN" dirty="0"/>
          </a:p>
          <a:p>
            <a:r>
              <a:rPr lang="en-IN" b="1" dirty="0"/>
              <a:t>Customized Output:</a:t>
            </a:r>
            <a:r>
              <a:rPr lang="en-IN" dirty="0"/>
              <a:t> Preference-based filtering</a:t>
            </a:r>
          </a:p>
          <a:p>
            <a:pPr lvl="0"/>
            <a:r>
              <a:rPr lang="en-IN" b="1" dirty="0"/>
              <a:t>Instant Ideas:</a:t>
            </a:r>
            <a:r>
              <a:rPr lang="en-IN" dirty="0"/>
              <a:t> Sub-second generation time</a:t>
            </a:r>
          </a:p>
          <a:p>
            <a:r>
              <a:rPr lang="en-IN" b="1" dirty="0"/>
              <a:t>Scalable Generation:</a:t>
            </a:r>
            <a:endParaRPr lang="en-IN" dirty="0"/>
          </a:p>
          <a:p>
            <a:r>
              <a:rPr lang="en-IN" dirty="0"/>
              <a:t> 1-10 ideas per request</a:t>
            </a:r>
          </a:p>
        </p:txBody>
      </p:sp>
      <p:sp>
        <p:nvSpPr>
          <p:cNvPr id="3" name="TextBox 2">
            <a:extLst>
              <a:ext uri="{FF2B5EF4-FFF2-40B4-BE49-F238E27FC236}">
                <a16:creationId xmlns:a16="http://schemas.microsoft.com/office/drawing/2014/main" id="{45BF8E1A-C5C8-006C-6544-A5130A8B2AB4}"/>
              </a:ext>
            </a:extLst>
          </p:cNvPr>
          <p:cNvSpPr txBox="1"/>
          <p:nvPr/>
        </p:nvSpPr>
        <p:spPr>
          <a:xfrm>
            <a:off x="7763688" y="660263"/>
            <a:ext cx="4235455" cy="5632311"/>
          </a:xfrm>
          <a:prstGeom prst="rect">
            <a:avLst/>
          </a:prstGeom>
          <a:noFill/>
        </p:spPr>
        <p:txBody>
          <a:bodyPr wrap="none" rtlCol="0">
            <a:spAutoFit/>
          </a:bodyPr>
          <a:lstStyle/>
          <a:p>
            <a:r>
              <a:rPr lang="en-IN" b="1" dirty="0"/>
              <a:t>Industry Coverage:</a:t>
            </a:r>
            <a:endParaRPr lang="en-IN" dirty="0"/>
          </a:p>
          <a:p>
            <a:r>
              <a:rPr lang="en-IN" dirty="0"/>
              <a:t> -Distinct industry categories</a:t>
            </a:r>
          </a:p>
          <a:p>
            <a:r>
              <a:rPr lang="en-IN" dirty="0"/>
              <a:t>- Cross-industry innovation possibilities</a:t>
            </a:r>
          </a:p>
          <a:p>
            <a:r>
              <a:rPr lang="en-IN" dirty="0"/>
              <a:t>- Emerging market identification</a:t>
            </a:r>
          </a:p>
          <a:p>
            <a:r>
              <a:rPr lang="en-IN" b="1" dirty="0"/>
              <a:t>Technology Integration:</a:t>
            </a:r>
            <a:endParaRPr lang="en-IN" dirty="0"/>
          </a:p>
          <a:p>
            <a:r>
              <a:rPr lang="en-IN" dirty="0"/>
              <a:t>- Technology domains</a:t>
            </a:r>
          </a:p>
          <a:p>
            <a:r>
              <a:rPr lang="en-US" dirty="0"/>
              <a:t>- Modern and emerging tech focus</a:t>
            </a:r>
            <a:endParaRPr lang="en-IN" dirty="0"/>
          </a:p>
          <a:p>
            <a:r>
              <a:rPr lang="en-IN" dirty="0"/>
              <a:t>- Practical application scenarios</a:t>
            </a:r>
          </a:p>
          <a:p>
            <a:r>
              <a:rPr lang="en-IN" b="1" dirty="0"/>
              <a:t>Business Model Components:</a:t>
            </a:r>
            <a:endParaRPr lang="en-IN" dirty="0"/>
          </a:p>
          <a:p>
            <a:r>
              <a:rPr lang="en-IN" dirty="0"/>
              <a:t>- Target audience specification</a:t>
            </a:r>
          </a:p>
          <a:p>
            <a:r>
              <a:rPr lang="en-IN" dirty="0"/>
              <a:t>- Monetization strategy recommendations</a:t>
            </a:r>
          </a:p>
          <a:p>
            <a:r>
              <a:rPr lang="en-IN" dirty="0"/>
              <a:t>- Risk assessment and mitigation</a:t>
            </a:r>
          </a:p>
          <a:p>
            <a:r>
              <a:rPr lang="en-IN" dirty="0"/>
              <a:t>- Market opportunity identification</a:t>
            </a:r>
          </a:p>
          <a:p>
            <a:r>
              <a:rPr lang="en-IN" b="1" dirty="0"/>
              <a:t>Interface Effectiveness:</a:t>
            </a:r>
            <a:endParaRPr lang="en-IN" dirty="0"/>
          </a:p>
          <a:p>
            <a:r>
              <a:rPr lang="en-IN" dirty="0"/>
              <a:t>- Intuitive navigation structure</a:t>
            </a:r>
          </a:p>
          <a:p>
            <a:r>
              <a:rPr lang="en-IN" dirty="0"/>
              <a:t>- Clear visual hierarchy</a:t>
            </a:r>
          </a:p>
          <a:p>
            <a:r>
              <a:rPr lang="en-IN" dirty="0"/>
              <a:t>- Responsive design implementation</a:t>
            </a:r>
          </a:p>
          <a:p>
            <a:r>
              <a:rPr lang="en-IN" dirty="0"/>
              <a:t>- Accessibility compliance</a:t>
            </a:r>
          </a:p>
          <a:p>
            <a:r>
              <a:rPr lang="en-IN" dirty="0"/>
              <a:t> </a:t>
            </a:r>
          </a:p>
          <a:p>
            <a:endParaRPr lang="en-IN" dirty="0"/>
          </a:p>
        </p:txBody>
      </p:sp>
    </p:spTree>
    <p:extLst>
      <p:ext uri="{BB962C8B-B14F-4D97-AF65-F5344CB8AC3E}">
        <p14:creationId xmlns:p14="http://schemas.microsoft.com/office/powerpoint/2010/main" val="1131718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sp>
        <p:nvSpPr>
          <p:cNvPr id="8" name="TextBox 7">
            <a:extLst>
              <a:ext uri="{FF2B5EF4-FFF2-40B4-BE49-F238E27FC236}">
                <a16:creationId xmlns:a16="http://schemas.microsoft.com/office/drawing/2014/main" id="{9D104C3F-622C-8635-E06D-A07BAEDF2828}"/>
              </a:ext>
            </a:extLst>
          </p:cNvPr>
          <p:cNvSpPr txBox="1"/>
          <p:nvPr/>
        </p:nvSpPr>
        <p:spPr>
          <a:xfrm>
            <a:off x="480890" y="411162"/>
            <a:ext cx="2074985" cy="738664"/>
          </a:xfrm>
          <a:prstGeom prst="rect">
            <a:avLst/>
          </a:prstGeom>
          <a:noFill/>
        </p:spPr>
        <p:txBody>
          <a:bodyPr wrap="square" rtlCol="0">
            <a:spAutoFit/>
          </a:bodyPr>
          <a:lstStyle/>
          <a:p>
            <a:r>
              <a:rPr lang="en-IN" sz="2400" b="1" dirty="0"/>
              <a:t>7. </a:t>
            </a:r>
            <a:r>
              <a:rPr lang="en-IN" sz="2400" b="1" u="sng" dirty="0"/>
              <a:t>Discussion</a:t>
            </a:r>
            <a:endParaRPr lang="en-IN" sz="2400" u="sng" dirty="0"/>
          </a:p>
          <a:p>
            <a:endParaRPr lang="en-IN" dirty="0"/>
          </a:p>
        </p:txBody>
      </p:sp>
      <p:sp>
        <p:nvSpPr>
          <p:cNvPr id="18" name="TextBox 17">
            <a:extLst>
              <a:ext uri="{FF2B5EF4-FFF2-40B4-BE49-F238E27FC236}">
                <a16:creationId xmlns:a16="http://schemas.microsoft.com/office/drawing/2014/main" id="{BCFEFE0F-1443-DE7B-CFBE-62F5E7F9E62F}"/>
              </a:ext>
            </a:extLst>
          </p:cNvPr>
          <p:cNvSpPr txBox="1"/>
          <p:nvPr/>
        </p:nvSpPr>
        <p:spPr>
          <a:xfrm>
            <a:off x="460618" y="826660"/>
            <a:ext cx="4734566" cy="646331"/>
          </a:xfrm>
          <a:prstGeom prst="rect">
            <a:avLst/>
          </a:prstGeom>
          <a:noFill/>
        </p:spPr>
        <p:txBody>
          <a:bodyPr wrap="none" rtlCol="0">
            <a:spAutoFit/>
          </a:bodyPr>
          <a:lstStyle/>
          <a:p>
            <a:r>
              <a:rPr lang="en-US" b="1" dirty="0"/>
              <a:t>6.1 Advantages of Template-Based Approach</a:t>
            </a:r>
            <a:endParaRPr lang="en-US" dirty="0"/>
          </a:p>
          <a:p>
            <a:endParaRPr lang="en-IN" dirty="0"/>
          </a:p>
        </p:txBody>
      </p:sp>
      <p:sp>
        <p:nvSpPr>
          <p:cNvPr id="19" name="TextBox 18">
            <a:extLst>
              <a:ext uri="{FF2B5EF4-FFF2-40B4-BE49-F238E27FC236}">
                <a16:creationId xmlns:a16="http://schemas.microsoft.com/office/drawing/2014/main" id="{8652D62F-2ABE-0A20-E892-5AAA08B0D7B7}"/>
              </a:ext>
            </a:extLst>
          </p:cNvPr>
          <p:cNvSpPr txBox="1"/>
          <p:nvPr/>
        </p:nvSpPr>
        <p:spPr>
          <a:xfrm>
            <a:off x="460618" y="1149826"/>
            <a:ext cx="6607899" cy="2308324"/>
          </a:xfrm>
          <a:prstGeom prst="rect">
            <a:avLst/>
          </a:prstGeom>
          <a:noFill/>
        </p:spPr>
        <p:txBody>
          <a:bodyPr wrap="none" rtlCol="0">
            <a:spAutoFit/>
          </a:bodyPr>
          <a:lstStyle/>
          <a:p>
            <a:r>
              <a:rPr lang="en-US" dirty="0"/>
              <a:t>Ensures all generated ideas include essential business components </a:t>
            </a:r>
          </a:p>
          <a:p>
            <a:r>
              <a:rPr lang="en-US" dirty="0"/>
              <a:t> Eliminates lengthy brainstorming sessions</a:t>
            </a:r>
          </a:p>
          <a:p>
            <a:r>
              <a:rPr lang="en-US" dirty="0"/>
              <a:t>Provides framework for business development</a:t>
            </a:r>
          </a:p>
          <a:p>
            <a:r>
              <a:rPr lang="en-US" dirty="0"/>
              <a:t> Can generate unlimited variations</a:t>
            </a:r>
          </a:p>
          <a:p>
            <a:r>
              <a:rPr lang="en-US" dirty="0"/>
              <a:t> Teaches business model components</a:t>
            </a:r>
          </a:p>
          <a:p>
            <a:br>
              <a:rPr lang="en-US" dirty="0"/>
            </a:br>
            <a:endParaRPr lang="en-US" dirty="0"/>
          </a:p>
          <a:p>
            <a:endParaRPr lang="en-IN" dirty="0"/>
          </a:p>
        </p:txBody>
      </p:sp>
      <p:sp>
        <p:nvSpPr>
          <p:cNvPr id="21" name="TextBox 20">
            <a:extLst>
              <a:ext uri="{FF2B5EF4-FFF2-40B4-BE49-F238E27FC236}">
                <a16:creationId xmlns:a16="http://schemas.microsoft.com/office/drawing/2014/main" id="{EB38552A-3A61-54B6-A8DF-A4468E65BC99}"/>
              </a:ext>
            </a:extLst>
          </p:cNvPr>
          <p:cNvSpPr txBox="1"/>
          <p:nvPr/>
        </p:nvSpPr>
        <p:spPr>
          <a:xfrm>
            <a:off x="351692" y="2639842"/>
            <a:ext cx="3568156" cy="646331"/>
          </a:xfrm>
          <a:prstGeom prst="rect">
            <a:avLst/>
          </a:prstGeom>
          <a:noFill/>
        </p:spPr>
        <p:txBody>
          <a:bodyPr wrap="none" rtlCol="0">
            <a:spAutoFit/>
          </a:bodyPr>
          <a:lstStyle/>
          <a:p>
            <a:r>
              <a:rPr lang="en-US" b="1" dirty="0"/>
              <a:t>6.2 Limitations and Future Work</a:t>
            </a:r>
            <a:endParaRPr lang="en-US" dirty="0"/>
          </a:p>
          <a:p>
            <a:endParaRPr lang="en-IN" dirty="0"/>
          </a:p>
        </p:txBody>
      </p:sp>
      <p:sp>
        <p:nvSpPr>
          <p:cNvPr id="22" name="TextBox 21">
            <a:extLst>
              <a:ext uri="{FF2B5EF4-FFF2-40B4-BE49-F238E27FC236}">
                <a16:creationId xmlns:a16="http://schemas.microsoft.com/office/drawing/2014/main" id="{4360DE2D-ED08-C77B-17CE-2E247115C82A}"/>
              </a:ext>
            </a:extLst>
          </p:cNvPr>
          <p:cNvSpPr txBox="1"/>
          <p:nvPr/>
        </p:nvSpPr>
        <p:spPr>
          <a:xfrm>
            <a:off x="515298" y="3021863"/>
            <a:ext cx="5335691" cy="1754326"/>
          </a:xfrm>
          <a:prstGeom prst="rect">
            <a:avLst/>
          </a:prstGeom>
          <a:noFill/>
        </p:spPr>
        <p:txBody>
          <a:bodyPr wrap="none" rtlCol="0">
            <a:spAutoFit/>
          </a:bodyPr>
          <a:lstStyle/>
          <a:p>
            <a:r>
              <a:rPr lang="en-US" b="1" dirty="0"/>
              <a:t>Current Limitations:**</a:t>
            </a:r>
            <a:endParaRPr lang="en-US" dirty="0"/>
          </a:p>
          <a:p>
            <a:r>
              <a:rPr lang="en-US" dirty="0"/>
              <a:t>- Template-based approach may limit true innovation</a:t>
            </a:r>
          </a:p>
          <a:p>
            <a:r>
              <a:rPr lang="en-US" dirty="0"/>
              <a:t>- No real-time market data integration</a:t>
            </a:r>
          </a:p>
          <a:p>
            <a:r>
              <a:rPr lang="en-US" dirty="0"/>
              <a:t>- Limited personalization beyond basic preferences</a:t>
            </a:r>
          </a:p>
          <a:p>
            <a:r>
              <a:rPr lang="en-US" dirty="0"/>
              <a:t>- No collaborative features</a:t>
            </a:r>
          </a:p>
          <a:p>
            <a:endParaRPr lang="en-IN" dirty="0"/>
          </a:p>
        </p:txBody>
      </p:sp>
      <p:sp>
        <p:nvSpPr>
          <p:cNvPr id="23" name="TextBox 22">
            <a:extLst>
              <a:ext uri="{FF2B5EF4-FFF2-40B4-BE49-F238E27FC236}">
                <a16:creationId xmlns:a16="http://schemas.microsoft.com/office/drawing/2014/main" id="{976985F3-F29F-9831-EC96-7B0262156A85}"/>
              </a:ext>
            </a:extLst>
          </p:cNvPr>
          <p:cNvSpPr txBox="1"/>
          <p:nvPr/>
        </p:nvSpPr>
        <p:spPr>
          <a:xfrm>
            <a:off x="480890" y="4545623"/>
            <a:ext cx="4899098" cy="2031325"/>
          </a:xfrm>
          <a:prstGeom prst="rect">
            <a:avLst/>
          </a:prstGeom>
          <a:noFill/>
        </p:spPr>
        <p:txBody>
          <a:bodyPr wrap="none" rtlCol="0">
            <a:spAutoFit/>
          </a:bodyPr>
          <a:lstStyle/>
          <a:p>
            <a:r>
              <a:rPr lang="en-IN" b="1" dirty="0"/>
              <a:t>*Future Enhancements:**</a:t>
            </a:r>
            <a:endParaRPr lang="en-IN" dirty="0"/>
          </a:p>
          <a:p>
            <a:r>
              <a:rPr lang="en-IN" dirty="0"/>
              <a:t>- Integration with external APIs for market data</a:t>
            </a:r>
          </a:p>
          <a:p>
            <a:r>
              <a:rPr lang="en-IN" dirty="0"/>
              <a:t>- Machine learning for improved personalization</a:t>
            </a:r>
          </a:p>
          <a:p>
            <a:r>
              <a:rPr lang="en-IN" dirty="0"/>
              <a:t>- Collaborative ideation features</a:t>
            </a:r>
          </a:p>
          <a:p>
            <a:r>
              <a:rPr lang="en-IN" dirty="0"/>
              <a:t>- Export capabilities (PDF, JSON)</a:t>
            </a:r>
          </a:p>
          <a:p>
            <a:r>
              <a:rPr lang="en-IN" dirty="0"/>
              <a:t>- Database storage for idea persistence</a:t>
            </a:r>
          </a:p>
          <a:p>
            <a:endParaRPr lang="en-IN" dirty="0"/>
          </a:p>
        </p:txBody>
      </p:sp>
      <p:sp>
        <p:nvSpPr>
          <p:cNvPr id="24" name="TextBox 23">
            <a:extLst>
              <a:ext uri="{FF2B5EF4-FFF2-40B4-BE49-F238E27FC236}">
                <a16:creationId xmlns:a16="http://schemas.microsoft.com/office/drawing/2014/main" id="{733C0CCA-95C7-E961-0564-A43143AF66AC}"/>
              </a:ext>
            </a:extLst>
          </p:cNvPr>
          <p:cNvSpPr txBox="1"/>
          <p:nvPr/>
        </p:nvSpPr>
        <p:spPr>
          <a:xfrm>
            <a:off x="6096000" y="2945423"/>
            <a:ext cx="5208477" cy="2585323"/>
          </a:xfrm>
          <a:prstGeom prst="rect">
            <a:avLst/>
          </a:prstGeom>
          <a:noFill/>
        </p:spPr>
        <p:txBody>
          <a:bodyPr wrap="none" rtlCol="0">
            <a:spAutoFit/>
          </a:bodyPr>
          <a:lstStyle/>
          <a:p>
            <a:r>
              <a:rPr lang="en-IN" b="1" dirty="0"/>
              <a:t>6.3 Implications for Entrepreneurship Education</a:t>
            </a:r>
            <a:endParaRPr lang="en-IN" dirty="0"/>
          </a:p>
          <a:p>
            <a:r>
              <a:rPr lang="en-IN" dirty="0"/>
              <a:t>The system demonstrates potential applications in:</a:t>
            </a:r>
          </a:p>
          <a:p>
            <a:r>
              <a:rPr lang="en-IN" dirty="0"/>
              <a:t>- Business school curricula</a:t>
            </a:r>
          </a:p>
          <a:p>
            <a:r>
              <a:rPr lang="en-IN" dirty="0"/>
              <a:t>- Entrepreneurship workshops</a:t>
            </a:r>
          </a:p>
          <a:p>
            <a:r>
              <a:rPr lang="en-IN" dirty="0"/>
              <a:t>- Startup accelerator programs</a:t>
            </a:r>
          </a:p>
          <a:p>
            <a:r>
              <a:rPr lang="en-IN" dirty="0"/>
              <a:t>- Corporate innovation initiatives</a:t>
            </a:r>
          </a:p>
          <a:p>
            <a:br>
              <a:rPr lang="en-IN" dirty="0"/>
            </a:br>
            <a:endParaRPr lang="en-IN" dirty="0"/>
          </a:p>
          <a:p>
            <a:endParaRPr lang="en-IN" dirty="0"/>
          </a:p>
        </p:txBody>
      </p:sp>
    </p:spTree>
    <p:extLst>
      <p:ext uri="{BB962C8B-B14F-4D97-AF65-F5344CB8AC3E}">
        <p14:creationId xmlns:p14="http://schemas.microsoft.com/office/powerpoint/2010/main" val="1941619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person wearing glasses and a blue shirt">
            <a:extLst>
              <a:ext uri="{FF2B5EF4-FFF2-40B4-BE49-F238E27FC236}">
                <a16:creationId xmlns:a16="http://schemas.microsoft.com/office/drawing/2014/main" id="{C570EB79-053B-0283-9D2D-6266701EEDDD}"/>
              </a:ext>
            </a:extLst>
          </p:cNvPr>
          <p:cNvPicPr>
            <a:picLocks noGrp="1" noChangeAspect="1"/>
          </p:cNvPicPr>
          <p:nvPr>
            <p:ph type="pic" sz="quarter" idx="14"/>
          </p:nvPr>
        </p:nvPicPr>
        <p:blipFill rotWithShape="1">
          <a:blip r:embed="rId3">
            <a:duotone>
              <a:prstClr val="black"/>
              <a:schemeClr val="accent4">
                <a:tint val="45000"/>
                <a:satMod val="400000"/>
              </a:schemeClr>
            </a:duotone>
          </a:blip>
          <a:srcRect l="19088" r="19088"/>
          <a:stretch/>
        </p:blipFill>
        <p:spPr>
          <a:xfrm>
            <a:off x="8989454" y="3405189"/>
            <a:ext cx="3202546" cy="3452811"/>
          </a:xfrm>
        </p:spPr>
      </p:pic>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9</a:t>
            </a:fld>
            <a:endParaRPr lang="en-US" dirty="0"/>
          </a:p>
        </p:txBody>
      </p:sp>
      <p:sp>
        <p:nvSpPr>
          <p:cNvPr id="10" name="TextBox 9">
            <a:extLst>
              <a:ext uri="{FF2B5EF4-FFF2-40B4-BE49-F238E27FC236}">
                <a16:creationId xmlns:a16="http://schemas.microsoft.com/office/drawing/2014/main" id="{3397CF8D-B709-EC27-72C4-60D6A9E1E318}"/>
              </a:ext>
            </a:extLst>
          </p:cNvPr>
          <p:cNvSpPr txBox="1"/>
          <p:nvPr/>
        </p:nvSpPr>
        <p:spPr>
          <a:xfrm>
            <a:off x="0" y="18816"/>
            <a:ext cx="2048318" cy="738664"/>
          </a:xfrm>
          <a:prstGeom prst="rect">
            <a:avLst/>
          </a:prstGeom>
          <a:noFill/>
        </p:spPr>
        <p:txBody>
          <a:bodyPr wrap="none" rtlCol="0">
            <a:spAutoFit/>
          </a:bodyPr>
          <a:lstStyle/>
          <a:p>
            <a:r>
              <a:rPr lang="en-IN" sz="2400" b="1" dirty="0"/>
              <a:t>8. </a:t>
            </a:r>
            <a:r>
              <a:rPr lang="en-IN" sz="2400" b="1" u="sng" dirty="0"/>
              <a:t>Conclusion</a:t>
            </a:r>
            <a:endParaRPr lang="en-IN" sz="2400" u="sng" dirty="0"/>
          </a:p>
          <a:p>
            <a:endParaRPr lang="en-IN" dirty="0"/>
          </a:p>
        </p:txBody>
      </p:sp>
      <p:sp>
        <p:nvSpPr>
          <p:cNvPr id="11" name="TextBox 10">
            <a:extLst>
              <a:ext uri="{FF2B5EF4-FFF2-40B4-BE49-F238E27FC236}">
                <a16:creationId xmlns:a16="http://schemas.microsoft.com/office/drawing/2014/main" id="{56EE9A1C-3AA5-C5F0-0C02-AF94B57B6045}"/>
              </a:ext>
            </a:extLst>
          </p:cNvPr>
          <p:cNvSpPr txBox="1"/>
          <p:nvPr/>
        </p:nvSpPr>
        <p:spPr>
          <a:xfrm>
            <a:off x="-65340" y="539075"/>
            <a:ext cx="9467491" cy="1477328"/>
          </a:xfrm>
          <a:prstGeom prst="rect">
            <a:avLst/>
          </a:prstGeom>
          <a:noFill/>
        </p:spPr>
        <p:txBody>
          <a:bodyPr wrap="square" rtlCol="0">
            <a:spAutoFit/>
          </a:bodyPr>
          <a:lstStyle/>
          <a:p>
            <a:r>
              <a:rPr lang="en-US" dirty="0"/>
              <a:t>This research presents a successful implementation of an AI-powered startup ideas generator using template-based algorithms. The system effectively addresses entrepreneurial ideation challenges by providing instant, structured business concepts across multiple industries and technologies.</a:t>
            </a:r>
          </a:p>
          <a:p>
            <a:endParaRPr lang="en-IN" dirty="0"/>
          </a:p>
        </p:txBody>
      </p:sp>
      <p:sp>
        <p:nvSpPr>
          <p:cNvPr id="12" name="TextBox 11">
            <a:extLst>
              <a:ext uri="{FF2B5EF4-FFF2-40B4-BE49-F238E27FC236}">
                <a16:creationId xmlns:a16="http://schemas.microsoft.com/office/drawing/2014/main" id="{99C77A8B-BE76-E52D-22FF-1C3F043DDD9D}"/>
              </a:ext>
            </a:extLst>
          </p:cNvPr>
          <p:cNvSpPr txBox="1"/>
          <p:nvPr/>
        </p:nvSpPr>
        <p:spPr>
          <a:xfrm>
            <a:off x="114299" y="2226692"/>
            <a:ext cx="2775119" cy="646331"/>
          </a:xfrm>
          <a:prstGeom prst="rect">
            <a:avLst/>
          </a:prstGeom>
          <a:noFill/>
        </p:spPr>
        <p:txBody>
          <a:bodyPr wrap="none" rtlCol="0">
            <a:spAutoFit/>
          </a:bodyPr>
          <a:lstStyle/>
          <a:p>
            <a:r>
              <a:rPr lang="en-IN" dirty="0"/>
              <a:t>Key contributions include:</a:t>
            </a:r>
          </a:p>
          <a:p>
            <a:endParaRPr lang="en-IN" dirty="0"/>
          </a:p>
        </p:txBody>
      </p:sp>
      <p:sp>
        <p:nvSpPr>
          <p:cNvPr id="14" name="TextBox 13">
            <a:extLst>
              <a:ext uri="{FF2B5EF4-FFF2-40B4-BE49-F238E27FC236}">
                <a16:creationId xmlns:a16="http://schemas.microsoft.com/office/drawing/2014/main" id="{DF0EA9BF-6BA8-E57D-48CD-2288EB456975}"/>
              </a:ext>
            </a:extLst>
          </p:cNvPr>
          <p:cNvSpPr txBox="1"/>
          <p:nvPr/>
        </p:nvSpPr>
        <p:spPr>
          <a:xfrm>
            <a:off x="1845688" y="5361271"/>
            <a:ext cx="7047051" cy="1200329"/>
          </a:xfrm>
          <a:prstGeom prst="rect">
            <a:avLst/>
          </a:prstGeom>
          <a:noFill/>
        </p:spPr>
        <p:txBody>
          <a:bodyPr wrap="square" rtlCol="0">
            <a:spAutoFit/>
          </a:bodyPr>
          <a:lstStyle/>
          <a:p>
            <a:r>
              <a:rPr lang="en-US" dirty="0"/>
              <a:t>The system demonstrates how computational creativity can support entrepreneurial processes while maintaining the essential human elements of innovation and market understanding.</a:t>
            </a:r>
          </a:p>
          <a:p>
            <a:endParaRPr lang="en-IN" dirty="0"/>
          </a:p>
        </p:txBody>
      </p:sp>
      <p:sp>
        <p:nvSpPr>
          <p:cNvPr id="3" name="TextBox 2">
            <a:extLst>
              <a:ext uri="{FF2B5EF4-FFF2-40B4-BE49-F238E27FC236}">
                <a16:creationId xmlns:a16="http://schemas.microsoft.com/office/drawing/2014/main" id="{661147AC-D002-6496-CED9-5AC9640E8511}"/>
              </a:ext>
            </a:extLst>
          </p:cNvPr>
          <p:cNvSpPr txBox="1"/>
          <p:nvPr/>
        </p:nvSpPr>
        <p:spPr>
          <a:xfrm>
            <a:off x="755010" y="2873023"/>
            <a:ext cx="6315350" cy="2031325"/>
          </a:xfrm>
          <a:prstGeom prst="rect">
            <a:avLst/>
          </a:prstGeom>
          <a:noFill/>
        </p:spPr>
        <p:txBody>
          <a:bodyPr wrap="square" rtlCol="0">
            <a:spAutoFit/>
          </a:bodyPr>
          <a:lstStyle/>
          <a:p>
            <a:pPr lvl="0"/>
            <a:r>
              <a:rPr lang="en-US" dirty="0"/>
              <a:t>1. A comprehensive template-based generation system</a:t>
            </a:r>
          </a:p>
          <a:p>
            <a:pPr lvl="0"/>
            <a:endParaRPr lang="en-IN" dirty="0"/>
          </a:p>
          <a:p>
            <a:pPr lvl="0"/>
            <a:r>
              <a:rPr lang="en-US" dirty="0"/>
              <a:t>2. Extensive industry and technology coverage</a:t>
            </a:r>
          </a:p>
          <a:p>
            <a:pPr lvl="0"/>
            <a:endParaRPr lang="en-IN" dirty="0"/>
          </a:p>
          <a:p>
            <a:pPr lvl="0"/>
            <a:r>
              <a:rPr lang="en-IN" dirty="0"/>
              <a:t>3.</a:t>
            </a:r>
            <a:r>
              <a:rPr lang="en-US" dirty="0"/>
              <a:t>Practical tool for entrepreneurial education and development</a:t>
            </a:r>
            <a:endParaRPr lang="en-IN" dirty="0"/>
          </a:p>
          <a:p>
            <a:r>
              <a:rPr lang="en-IN" dirty="0"/>
              <a:t> </a:t>
            </a:r>
          </a:p>
          <a:p>
            <a:endParaRPr lang="en-IN" dirty="0"/>
          </a:p>
        </p:txBody>
      </p:sp>
    </p:spTree>
    <p:extLst>
      <p:ext uri="{BB962C8B-B14F-4D97-AF65-F5344CB8AC3E}">
        <p14:creationId xmlns:p14="http://schemas.microsoft.com/office/powerpoint/2010/main" val="4072101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A0846C1D-CE89-8A9D-4110-41CB6A876A6E}"/>
              </a:ext>
            </a:extLst>
          </p:cNvPr>
          <p:cNvSpPr txBox="1">
            <a:spLocks noGrp="1"/>
          </p:cNvSpPr>
          <p:nvPr>
            <p:ph sz="half" idx="2"/>
          </p:nvPr>
        </p:nvSpPr>
        <p:spPr>
          <a:xfrm>
            <a:off x="1786855" y="415255"/>
            <a:ext cx="9821008" cy="7319953"/>
          </a:xfrm>
          <a:prstGeom prst="rect">
            <a:avLst/>
          </a:prstGeom>
          <a:noFill/>
        </p:spPr>
        <p:txBody>
          <a:bodyPr wrap="square" rtlCol="0">
            <a:spAutoFit/>
          </a:bodyPr>
          <a:lstStyle/>
          <a:p>
            <a:pPr marL="0" indent="0">
              <a:buNone/>
            </a:pPr>
            <a:r>
              <a:rPr lang="en-US" sz="2400" b="1" dirty="0"/>
              <a:t> </a:t>
            </a:r>
            <a:r>
              <a:rPr lang="en-US" sz="2400" b="1" u="sng" dirty="0">
                <a:solidFill>
                  <a:schemeClr val="tx1"/>
                </a:solidFill>
              </a:rPr>
              <a:t>References</a:t>
            </a:r>
            <a:endParaRPr lang="en-US" sz="2400" u="sng" dirty="0">
              <a:solidFill>
                <a:schemeClr val="tx1"/>
              </a:solidFill>
            </a:endParaRPr>
          </a:p>
          <a:p>
            <a:r>
              <a:rPr lang="en-US" dirty="0"/>
              <a:t>Bandi, A., Adapa, P. V. S. R., Kumar, V. P., &amp; Kuchi, Y. E. (2023). The power of generative AI: A review of requirements, models, input–output formats, evaluation metrics, and challenges. </a:t>
            </a:r>
            <a:r>
              <a:rPr lang="en-US" i="1" dirty="0"/>
              <a:t>Future Internet, 15</a:t>
            </a:r>
            <a:r>
              <a:rPr lang="en-US" dirty="0"/>
              <a:t>(8), 260. https://www.mdpi.com/1999-5903/            </a:t>
            </a:r>
            <a:r>
              <a:rPr lang="en-IN" b="1" dirty="0">
                <a:solidFill>
                  <a:srgbClr val="1F2C8F"/>
                </a:solidFill>
                <a:hlinkClick r:id="rId3">
                  <a:extLst>
                    <a:ext uri="{A12FA001-AC4F-418D-AE19-62706E023703}">
                      <ahyp:hlinkClr xmlns:ahyp="http://schemas.microsoft.com/office/drawing/2018/hyperlinkcolor" val="tx"/>
                    </a:ext>
                  </a:extLst>
                </a:hlinkClick>
              </a:rPr>
              <a:t> </a:t>
            </a:r>
            <a:r>
              <a:rPr lang="en-IN" b="1" dirty="0">
                <a:solidFill>
                  <a:schemeClr val="tx1">
                    <a:lumMod val="65000"/>
                    <a:lumOff val="35000"/>
                  </a:schemeClr>
                </a:solidFill>
                <a:hlinkClick r:id="rId3">
                  <a:extLst>
                    <a:ext uri="{A12FA001-AC4F-418D-AE19-62706E023703}">
                      <ahyp:hlinkClr xmlns:ahyp="http://schemas.microsoft.com/office/drawing/2018/hyperlinkcolor" val="tx"/>
                    </a:ext>
                  </a:extLst>
                </a:hlinkClick>
              </a:rPr>
              <a:t>Article</a:t>
            </a:r>
            <a:r>
              <a:rPr lang="en-IN" b="1" dirty="0">
                <a:solidFill>
                  <a:schemeClr val="tx1">
                    <a:lumMod val="65000"/>
                    <a:lumOff val="35000"/>
                  </a:schemeClr>
                </a:solidFill>
              </a:rPr>
              <a:t> </a:t>
            </a:r>
            <a:r>
              <a:rPr lang="en-IN" b="1" dirty="0">
                <a:solidFill>
                  <a:schemeClr val="tx1">
                    <a:lumMod val="65000"/>
                    <a:lumOff val="35000"/>
                  </a:schemeClr>
                </a:solidFill>
                <a:hlinkClick r:id="rId4">
                  <a:extLst>
                    <a:ext uri="{A12FA001-AC4F-418D-AE19-62706E023703}">
                      <ahyp:hlinkClr xmlns:ahyp="http://schemas.microsoft.com/office/drawing/2018/hyperlinkcolor" val="tx"/>
                    </a:ext>
                  </a:extLst>
                </a:hlinkClick>
              </a:rPr>
              <a:t>Google Scholar</a:t>
            </a:r>
            <a:r>
              <a:rPr lang="en-IN" b="1" dirty="0">
                <a:solidFill>
                  <a:schemeClr val="tx1">
                    <a:lumMod val="65000"/>
                    <a:lumOff val="35000"/>
                  </a:schemeClr>
                </a:solidFill>
              </a:rPr>
              <a:t> </a:t>
            </a:r>
          </a:p>
          <a:p>
            <a:pPr marL="0" indent="0">
              <a:buNone/>
            </a:pPr>
            <a:endParaRPr lang="en-US" dirty="0"/>
          </a:p>
          <a:p>
            <a:r>
              <a:rPr lang="en-US" dirty="0" err="1"/>
              <a:t>Barcaui</a:t>
            </a:r>
            <a:r>
              <a:rPr lang="en-US" dirty="0"/>
              <a:t>, A., &amp; Monat, A. (2023). Who is better in project planning? Generative artificial intelligence or project managers? </a:t>
            </a:r>
            <a:r>
              <a:rPr lang="en-US" i="1" dirty="0"/>
              <a:t>Project Leadership and Society, 4</a:t>
            </a:r>
            <a:r>
              <a:rPr lang="en-US" dirty="0"/>
              <a:t>, 100101. ISSN 2666-7215. </a:t>
            </a:r>
            <a:r>
              <a:rPr lang="en-US" dirty="0">
                <a:hlinkClick r:id="rId5"/>
              </a:rPr>
              <a:t>https://doi.org/10.1016/j.plas.2023.100101</a:t>
            </a:r>
            <a:r>
              <a:rPr lang="en-US" dirty="0"/>
              <a:t>                      </a:t>
            </a:r>
            <a:r>
              <a:rPr lang="en-IN" b="1" dirty="0">
                <a:solidFill>
                  <a:schemeClr val="tx1">
                    <a:lumMod val="65000"/>
                    <a:lumOff val="35000"/>
                  </a:schemeClr>
                </a:solidFill>
                <a:hlinkClick r:id="rId6">
                  <a:extLst>
                    <a:ext uri="{A12FA001-AC4F-418D-AE19-62706E023703}">
                      <ahyp:hlinkClr xmlns:ahyp="http://schemas.microsoft.com/office/drawing/2018/hyperlinkcolor" val="tx"/>
                    </a:ext>
                  </a:extLst>
                </a:hlinkClick>
              </a:rPr>
              <a:t>Article</a:t>
            </a:r>
            <a:r>
              <a:rPr lang="en-IN" b="1" dirty="0">
                <a:solidFill>
                  <a:schemeClr val="tx1">
                    <a:lumMod val="65000"/>
                    <a:lumOff val="35000"/>
                  </a:schemeClr>
                </a:solidFill>
              </a:rPr>
              <a:t> </a:t>
            </a:r>
            <a:r>
              <a:rPr lang="en-IN" b="1" dirty="0">
                <a:solidFill>
                  <a:schemeClr val="tx1">
                    <a:lumMod val="65000"/>
                    <a:lumOff val="35000"/>
                  </a:schemeClr>
                </a:solidFill>
                <a:hlinkClick r:id="rId7">
                  <a:extLst>
                    <a:ext uri="{A12FA001-AC4F-418D-AE19-62706E023703}">
                      <ahyp:hlinkClr xmlns:ahyp="http://schemas.microsoft.com/office/drawing/2018/hyperlinkcolor" val="tx"/>
                    </a:ext>
                  </a:extLst>
                </a:hlinkClick>
              </a:rPr>
              <a:t>Google Scholar</a:t>
            </a:r>
            <a:r>
              <a:rPr lang="en-IN" b="1" dirty="0">
                <a:solidFill>
                  <a:schemeClr val="tx1">
                    <a:lumMod val="65000"/>
                    <a:lumOff val="35000"/>
                  </a:schemeClr>
                </a:solidFill>
              </a:rPr>
              <a:t> </a:t>
            </a:r>
            <a:endParaRPr lang="en-US" dirty="0">
              <a:solidFill>
                <a:schemeClr val="tx1">
                  <a:lumMod val="65000"/>
                  <a:lumOff val="35000"/>
                </a:schemeClr>
              </a:solidFill>
            </a:endParaRPr>
          </a:p>
          <a:p>
            <a:endParaRPr lang="en-US" dirty="0"/>
          </a:p>
          <a:p>
            <a:r>
              <a:rPr lang="en-US" dirty="0"/>
              <a:t>Celestin, M., &amp; Vanitha, N. (2018). </a:t>
            </a:r>
            <a:r>
              <a:rPr lang="en-US" i="1" dirty="0"/>
              <a:t>AI-powered entrepreneurship: The tools that will shape tomorrow's startups.</a:t>
            </a:r>
            <a:r>
              <a:rPr lang="en-US" dirty="0"/>
              <a:t> In Proceedings of Advanced Trends in Engineering and Technology. </a:t>
            </a:r>
            <a:br>
              <a:rPr lang="en-IN" b="1" dirty="0"/>
            </a:br>
            <a:r>
              <a:rPr lang="en-IN" b="1" dirty="0"/>
              <a:t>                                                                                                           </a:t>
            </a:r>
            <a:r>
              <a:rPr lang="en-IN" b="1" dirty="0">
                <a:solidFill>
                  <a:schemeClr val="tx1">
                    <a:lumMod val="65000"/>
                    <a:lumOff val="35000"/>
                  </a:schemeClr>
                </a:solidFill>
              </a:rPr>
              <a:t>[PDF]</a:t>
            </a:r>
            <a:r>
              <a:rPr lang="en-IN" dirty="0">
                <a:solidFill>
                  <a:schemeClr val="tx1">
                    <a:lumMod val="65000"/>
                    <a:lumOff val="35000"/>
                  </a:schemeClr>
                </a:solidFill>
              </a:rPr>
              <a:t> researchgate.net</a:t>
            </a:r>
            <a:endParaRPr lang="en-US" dirty="0">
              <a:solidFill>
                <a:schemeClr val="tx1">
                  <a:lumMod val="65000"/>
                  <a:lumOff val="35000"/>
                </a:schemeClr>
              </a:solidFill>
            </a:endParaRPr>
          </a:p>
          <a:p>
            <a:pPr marL="0" indent="0">
              <a:buNone/>
            </a:pPr>
            <a:endParaRPr lang="en-US" dirty="0"/>
          </a:p>
          <a:p>
            <a:r>
              <a:rPr lang="en-US" dirty="0"/>
              <a:t>Samal, A., Radhakrishna, H., &amp; </a:t>
            </a:r>
            <a:r>
              <a:rPr lang="en-US" dirty="0" err="1"/>
              <a:t>Rajimol</a:t>
            </a:r>
            <a:r>
              <a:rPr lang="en-US" dirty="0"/>
              <a:t>, K. P. (2024). </a:t>
            </a:r>
            <a:r>
              <a:rPr lang="en-US" i="1" dirty="0"/>
              <a:t>An investigation into the role of AI-based innovation in supporting the next generation of startup entrepreneurs.</a:t>
            </a:r>
            <a:r>
              <a:rPr lang="en-US" dirty="0"/>
              <a:t> Nanotechnology and Innovation, ResearchGate.                                                                  </a:t>
            </a:r>
            <a:r>
              <a:rPr lang="en-IN" b="1" dirty="0">
                <a:solidFill>
                  <a:schemeClr val="tx1">
                    <a:lumMod val="65000"/>
                    <a:lumOff val="35000"/>
                  </a:schemeClr>
                </a:solidFill>
              </a:rPr>
              <a:t>[PDF]</a:t>
            </a:r>
            <a:r>
              <a:rPr lang="en-IN" dirty="0">
                <a:solidFill>
                  <a:schemeClr val="tx1">
                    <a:lumMod val="65000"/>
                    <a:lumOff val="35000"/>
                  </a:schemeClr>
                </a:solidFill>
              </a:rPr>
              <a:t> researchgate.net</a:t>
            </a:r>
            <a:endParaRPr lang="en-US" dirty="0">
              <a:solidFill>
                <a:schemeClr val="tx1">
                  <a:lumMod val="65000"/>
                  <a:lumOff val="35000"/>
                </a:schemeClr>
              </a:solidFill>
            </a:endParaRPr>
          </a:p>
          <a:p>
            <a:pPr marL="0" indent="0">
              <a:buNone/>
            </a:pPr>
            <a:r>
              <a:rPr lang="en-US" dirty="0"/>
              <a:t>                                                             </a:t>
            </a:r>
          </a:p>
          <a:p>
            <a:endParaRPr lang="en-US" dirty="0"/>
          </a:p>
          <a:p>
            <a:endParaRPr lang="en-US" dirty="0"/>
          </a:p>
          <a:p>
            <a:pPr marL="0" indent="0">
              <a:buNone/>
            </a:pPr>
            <a:r>
              <a:rPr lang="en-US" dirty="0"/>
              <a:t>                                                                                                                          </a:t>
            </a:r>
            <a:br>
              <a:rPr lang="en-US" b="1" dirty="0"/>
            </a:br>
            <a:endParaRPr lang="en-IN" dirty="0"/>
          </a:p>
        </p:txBody>
      </p:sp>
    </p:spTree>
    <p:extLst>
      <p:ext uri="{BB962C8B-B14F-4D97-AF65-F5344CB8AC3E}">
        <p14:creationId xmlns:p14="http://schemas.microsoft.com/office/powerpoint/2010/main" val="2498021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you</a:t>
            </a:r>
            <a:br>
              <a:rPr lang="en-US" dirty="0"/>
            </a:br>
            <a:r>
              <a:rPr lang="en-US" sz="1600" dirty="0"/>
              <a:t>-submitted to Aditya </a:t>
            </a:r>
            <a:r>
              <a:rPr lang="en-US" sz="1600" dirty="0" err="1"/>
              <a:t>bangia</a:t>
            </a:r>
            <a:br>
              <a:rPr lang="en-US" dirty="0"/>
            </a:br>
            <a:r>
              <a:rPr lang="en-US" dirty="0"/>
              <a:t>  </a:t>
            </a:r>
            <a:br>
              <a:rPr lang="en-US" dirty="0"/>
            </a:br>
            <a:endParaRPr lang="en-US" dirty="0"/>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6DBB56F-4362-4386-A1A1-3DF89889661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TM10001115[[fn=Parcel]]</Template>
  <TotalTime>645</TotalTime>
  <Words>1477</Words>
  <Application>Microsoft Office PowerPoint</Application>
  <PresentationFormat>Widescreen</PresentationFormat>
  <Paragraphs>171</Paragraphs>
  <Slides>11</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Algerian</vt:lpstr>
      <vt:lpstr>Arial</vt:lpstr>
      <vt:lpstr>Arial Black</vt:lpstr>
      <vt:lpstr>Calibri</vt:lpstr>
      <vt:lpstr>Sabon Next LT</vt:lpstr>
      <vt:lpstr>Custom</vt:lpstr>
      <vt:lpstr>AI-Powered  Ideas Generator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-submitted to Aditya bangia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Pritam kumar singh</dc:creator>
  <cp:lastModifiedBy>Pritam kumar singh</cp:lastModifiedBy>
  <cp:revision>10</cp:revision>
  <dcterms:created xsi:type="dcterms:W3CDTF">2025-09-24T17:08:12Z</dcterms:created>
  <dcterms:modified xsi:type="dcterms:W3CDTF">2025-11-26T17:36:48Z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